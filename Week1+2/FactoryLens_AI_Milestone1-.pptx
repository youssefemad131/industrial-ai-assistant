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9"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6E6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18174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33"/>
        </a:solidFill>
        <a:effectLst/>
      </p:bgPr>
    </p:bg>
    <p:spTree>
      <p:nvGrpSpPr>
        <p:cNvPr id="1" name=""/>
        <p:cNvGrpSpPr/>
        <p:nvPr/>
      </p:nvGrpSpPr>
      <p:grpSpPr>
        <a:xfrm>
          <a:off x="0" y="0"/>
          <a:ext cx="0" cy="0"/>
          <a:chOff x="0" y="0"/>
          <a:chExt cx="0" cy="0"/>
        </a:xfrm>
      </p:grpSpPr>
      <p:sp>
        <p:nvSpPr>
          <p:cNvPr id="2" name="Shape 0"/>
          <p:cNvSpPr/>
          <p:nvPr/>
        </p:nvSpPr>
        <p:spPr>
          <a:xfrm>
            <a:off x="5852160" y="1371600"/>
            <a:ext cx="2743200" cy="2743200"/>
          </a:xfrm>
          <a:prstGeom prst="ellipse">
            <a:avLst/>
          </a:prstGeom>
          <a:solidFill>
            <a:srgbClr val="0F2A33"/>
          </a:solidFill>
          <a:ln w="25400">
            <a:solidFill>
              <a:srgbClr val="0B6E6E"/>
            </a:solidFill>
            <a:prstDash val="solid"/>
          </a:ln>
        </p:spPr>
        <p:txBody>
          <a:bodyPr/>
          <a:lstStyle/>
          <a:p>
            <a:endParaRPr lang="en-US"/>
          </a:p>
        </p:txBody>
      </p:sp>
      <p:sp>
        <p:nvSpPr>
          <p:cNvPr id="3" name="Shape 1"/>
          <p:cNvSpPr/>
          <p:nvPr/>
        </p:nvSpPr>
        <p:spPr>
          <a:xfrm>
            <a:off x="6263640" y="1783080"/>
            <a:ext cx="1920240" cy="1920240"/>
          </a:xfrm>
          <a:prstGeom prst="ellipse">
            <a:avLst/>
          </a:prstGeom>
          <a:solidFill>
            <a:srgbClr val="0F2A33"/>
          </a:solidFill>
          <a:ln w="25400">
            <a:solidFill>
              <a:srgbClr val="0B6E6E"/>
            </a:solidFill>
            <a:prstDash val="solid"/>
          </a:ln>
        </p:spPr>
        <p:txBody>
          <a:bodyPr/>
          <a:lstStyle/>
          <a:p>
            <a:endParaRPr lang="en-US"/>
          </a:p>
        </p:txBody>
      </p:sp>
      <p:sp>
        <p:nvSpPr>
          <p:cNvPr id="4" name="Shape 2"/>
          <p:cNvSpPr/>
          <p:nvPr/>
        </p:nvSpPr>
        <p:spPr>
          <a:xfrm>
            <a:off x="6675120" y="2194560"/>
            <a:ext cx="1097280" cy="1097280"/>
          </a:xfrm>
          <a:prstGeom prst="ellipse">
            <a:avLst/>
          </a:prstGeom>
          <a:solidFill>
            <a:srgbClr val="0F2A33"/>
          </a:solidFill>
          <a:ln w="50800">
            <a:solidFill>
              <a:srgbClr val="F2A33A"/>
            </a:solidFill>
            <a:prstDash val="solid"/>
          </a:ln>
        </p:spPr>
        <p:txBody>
          <a:bodyPr/>
          <a:lstStyle/>
          <a:p>
            <a:endParaRPr lang="en-US"/>
          </a:p>
        </p:txBody>
      </p:sp>
      <p:sp>
        <p:nvSpPr>
          <p:cNvPr id="5" name="Text 3"/>
          <p:cNvSpPr txBox="1"/>
          <p:nvPr/>
        </p:nvSpPr>
        <p:spPr>
          <a:xfrm>
            <a:off x="548640" y="1005840"/>
            <a:ext cx="5120640" cy="365760"/>
          </a:xfrm>
          <a:prstGeom prst="rect">
            <a:avLst/>
          </a:prstGeom>
          <a:noFill/>
          <a:ln/>
        </p:spPr>
        <p:txBody>
          <a:bodyPr wrap="square" lIns="0" tIns="0" rIns="0" bIns="0" rtlCol="0" anchor="ctr"/>
          <a:lstStyle/>
          <a:p>
            <a:pPr marL="0" indent="0">
              <a:buNone/>
            </a:pPr>
            <a:r>
              <a:rPr lang="en-US" sz="1400" b="1" kern="0" spc="300" dirty="0">
                <a:solidFill>
                  <a:srgbClr val="F2A33A"/>
                </a:solidFill>
                <a:latin typeface="Calibri" pitchFamily="34" charset="0"/>
                <a:ea typeface="Calibri" pitchFamily="34" charset="-122"/>
                <a:cs typeface="Calibri" pitchFamily="34" charset="-120"/>
              </a:rPr>
              <a:t>MILESTONE 1  ·  AI TRACK</a:t>
            </a:r>
            <a:endParaRPr lang="en-US" sz="1400" dirty="0"/>
          </a:p>
        </p:txBody>
      </p:sp>
      <p:sp>
        <p:nvSpPr>
          <p:cNvPr id="6" name="Text 4"/>
          <p:cNvSpPr txBox="1"/>
          <p:nvPr/>
        </p:nvSpPr>
        <p:spPr>
          <a:xfrm>
            <a:off x="548640" y="1463040"/>
            <a:ext cx="5120640" cy="822960"/>
          </a:xfrm>
          <a:prstGeom prst="rect">
            <a:avLst/>
          </a:prstGeom>
          <a:noFill/>
          <a:ln/>
        </p:spPr>
        <p:txBody>
          <a:bodyPr wrap="square" lIns="0" tIns="0" rIns="0" bIns="0" rtlCol="0" anchor="ctr"/>
          <a:lstStyle/>
          <a:p>
            <a:r>
              <a:rPr lang="en-US" sz="4400" b="1" dirty="0">
                <a:solidFill>
                  <a:srgbClr val="FFFFFF"/>
                </a:solidFill>
                <a:latin typeface="Cambria" pitchFamily="34" charset="0"/>
                <a:ea typeface="Cambria" pitchFamily="34" charset="-122"/>
                <a:cs typeface="Cambria" pitchFamily="34" charset="-120"/>
              </a:rPr>
              <a:t>AI Factory</a:t>
            </a:r>
            <a:endParaRPr lang="en-US" sz="4400" dirty="0"/>
          </a:p>
        </p:txBody>
      </p:sp>
      <p:sp>
        <p:nvSpPr>
          <p:cNvPr id="7" name="Text 5"/>
          <p:cNvSpPr txBox="1"/>
          <p:nvPr/>
        </p:nvSpPr>
        <p:spPr>
          <a:xfrm>
            <a:off x="548640" y="2377440"/>
            <a:ext cx="4937760" cy="822960"/>
          </a:xfrm>
          <a:prstGeom prst="rect">
            <a:avLst/>
          </a:prstGeom>
          <a:noFill/>
          <a:ln/>
        </p:spPr>
        <p:txBody>
          <a:bodyPr wrap="square" lIns="0" tIns="0" rIns="0" bIns="0" rtlCol="0" anchor="t"/>
          <a:lstStyle/>
          <a:p>
            <a:pPr marL="0" indent="0">
              <a:buNone/>
            </a:pPr>
            <a:r>
              <a:rPr lang="en-US" sz="2200" dirty="0">
                <a:solidFill>
                  <a:srgbClr val="CFE3E6"/>
                </a:solidFill>
                <a:latin typeface="Calibri" pitchFamily="34" charset="0"/>
                <a:ea typeface="Calibri" pitchFamily="34" charset="-122"/>
                <a:cs typeface="Calibri" pitchFamily="34" charset="-120"/>
              </a:rPr>
              <a:t>Evidence-Based Manufacturing Assistant</a:t>
            </a:r>
            <a:endParaRPr lang="en-US" sz="2200" dirty="0"/>
          </a:p>
        </p:txBody>
      </p:sp>
      <p:sp>
        <p:nvSpPr>
          <p:cNvPr id="8" name="Text 6"/>
          <p:cNvSpPr txBox="1"/>
          <p:nvPr/>
        </p:nvSpPr>
        <p:spPr>
          <a:xfrm>
            <a:off x="548640" y="3474720"/>
            <a:ext cx="4937760" cy="548640"/>
          </a:xfrm>
          <a:prstGeom prst="rect">
            <a:avLst/>
          </a:prstGeom>
          <a:noFill/>
          <a:ln/>
        </p:spPr>
        <p:txBody>
          <a:bodyPr wrap="square" lIns="0" tIns="0" rIns="0" bIns="0" rtlCol="0" anchor="t"/>
          <a:lstStyle/>
          <a:p>
            <a:pPr marL="0" indent="0">
              <a:buNone/>
            </a:pPr>
            <a:r>
              <a:rPr lang="en-US" sz="1600" dirty="0">
                <a:solidFill>
                  <a:srgbClr val="9FC4C8"/>
                </a:solidFill>
                <a:latin typeface="Calibri" pitchFamily="34" charset="0"/>
                <a:ea typeface="Calibri" pitchFamily="34" charset="-122"/>
                <a:cs typeface="Calibri" pitchFamily="34" charset="-120"/>
              </a:rPr>
              <a:t>Guided quality investigation for factory engineers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marL="0" indent="0">
              <a:buNone/>
            </a:pPr>
            <a:r>
              <a:rPr lang="en-US" sz="3200" b="1" dirty="0">
                <a:solidFill>
                  <a:srgbClr val="0F2A33"/>
                </a:solidFill>
                <a:latin typeface="Cambria" pitchFamily="34" charset="0"/>
                <a:ea typeface="Cambria" pitchFamily="34" charset="-122"/>
                <a:cs typeface="Cambria" pitchFamily="34" charset="-120"/>
              </a:rPr>
              <a:t>The problem and who it helps</a:t>
            </a:r>
            <a:endParaRPr lang="en-US" sz="3200" dirty="0"/>
          </a:p>
        </p:txBody>
      </p:sp>
      <p:sp>
        <p:nvSpPr>
          <p:cNvPr id="3" name="Shape 1"/>
          <p:cNvSpPr/>
          <p:nvPr/>
        </p:nvSpPr>
        <p:spPr>
          <a:xfrm>
            <a:off x="457200" y="1280160"/>
            <a:ext cx="3566160" cy="3291840"/>
          </a:xfrm>
          <a:prstGeom prst="roundRect">
            <a:avLst>
              <a:gd name="adj" fmla="val 3333"/>
            </a:avLst>
          </a:prstGeom>
          <a:solidFill>
            <a:srgbClr val="F1F5F6"/>
          </a:solidFill>
          <a:ln w="12700">
            <a:solidFill>
              <a:srgbClr val="F1F5F6"/>
            </a:solidFill>
            <a:prstDash val="solid"/>
          </a:ln>
        </p:spPr>
        <p:txBody>
          <a:bodyPr/>
          <a:lstStyle/>
          <a:p>
            <a:endParaRPr lang="en-US"/>
          </a:p>
        </p:txBody>
      </p:sp>
      <p:sp>
        <p:nvSpPr>
          <p:cNvPr id="4" name="Text 2"/>
          <p:cNvSpPr txBox="1"/>
          <p:nvPr/>
        </p:nvSpPr>
        <p:spPr>
          <a:xfrm>
            <a:off x="640080" y="1417320"/>
            <a:ext cx="3200400" cy="365760"/>
          </a:xfrm>
          <a:prstGeom prst="rect">
            <a:avLst/>
          </a:prstGeom>
          <a:noFill/>
          <a:ln/>
        </p:spPr>
        <p:txBody>
          <a:bodyPr wrap="square" lIns="0" tIns="0" rIns="0" bIns="0" rtlCol="0" anchor="ctr"/>
          <a:lstStyle/>
          <a:p>
            <a:pPr marL="0" indent="0">
              <a:buNone/>
            </a:pPr>
            <a:r>
              <a:rPr lang="en-US" sz="2000" b="1" dirty="0">
                <a:solidFill>
                  <a:srgbClr val="0F2A33"/>
                </a:solidFill>
                <a:latin typeface="Calibri" pitchFamily="34" charset="0"/>
                <a:ea typeface="Calibri" pitchFamily="34" charset="-122"/>
                <a:cs typeface="Calibri" pitchFamily="34" charset="-120"/>
              </a:rPr>
              <a:t>The problem</a:t>
            </a:r>
            <a:endParaRPr lang="en-US" sz="2000" dirty="0"/>
          </a:p>
        </p:txBody>
      </p:sp>
      <p:sp>
        <p:nvSpPr>
          <p:cNvPr id="5" name="Text 3"/>
          <p:cNvSpPr txBox="1"/>
          <p:nvPr/>
        </p:nvSpPr>
        <p:spPr>
          <a:xfrm>
            <a:off x="640080" y="1874520"/>
            <a:ext cx="3200400" cy="2468880"/>
          </a:xfrm>
          <a:prstGeom prst="rect">
            <a:avLst/>
          </a:prstGeom>
          <a:noFill/>
          <a:ln/>
        </p:spPr>
        <p:txBody>
          <a:bodyPr wrap="square" lIns="0" tIns="0" rIns="0" bIns="0" rtlCol="0" anchor="t"/>
          <a:lstStyle/>
          <a:p>
            <a:pPr marL="0" indent="0">
              <a:buNone/>
            </a:pPr>
            <a:r>
              <a:rPr lang="en-US" sz="1600" dirty="0">
                <a:solidFill>
                  <a:srgbClr val="1B2430"/>
                </a:solidFill>
                <a:latin typeface="Calibri" pitchFamily="34" charset="0"/>
                <a:ea typeface="Calibri" pitchFamily="34" charset="-122"/>
                <a:cs typeface="Calibri" pitchFamily="34" charset="-120"/>
              </a:rPr>
              <a:t>Defect causes are spread across inspection sheets, shift records and supplier information. Finding them by hand is slow and often turns into guesswork.</a:t>
            </a:r>
            <a:endParaRPr lang="en-US" sz="1600" dirty="0"/>
          </a:p>
        </p:txBody>
      </p:sp>
      <p:sp>
        <p:nvSpPr>
          <p:cNvPr id="6" name="Shape 4"/>
          <p:cNvSpPr/>
          <p:nvPr/>
        </p:nvSpPr>
        <p:spPr>
          <a:xfrm>
            <a:off x="4297680" y="1280160"/>
            <a:ext cx="4389120" cy="731520"/>
          </a:xfrm>
          <a:prstGeom prst="roundRect">
            <a:avLst>
              <a:gd name="adj" fmla="val 15000"/>
            </a:avLst>
          </a:prstGeom>
          <a:solidFill>
            <a:srgbClr val="F1F5F6"/>
          </a:solidFill>
          <a:ln w="12700">
            <a:solidFill>
              <a:srgbClr val="F1F5F6"/>
            </a:solidFill>
            <a:prstDash val="solid"/>
          </a:ln>
        </p:spPr>
        <p:txBody>
          <a:bodyPr/>
          <a:lstStyle/>
          <a:p>
            <a:endParaRPr lang="en-US"/>
          </a:p>
        </p:txBody>
      </p:sp>
      <p:sp>
        <p:nvSpPr>
          <p:cNvPr id="7" name="Shape 5"/>
          <p:cNvSpPr/>
          <p:nvPr/>
        </p:nvSpPr>
        <p:spPr>
          <a:xfrm>
            <a:off x="4434840" y="1371600"/>
            <a:ext cx="548640" cy="548640"/>
          </a:xfrm>
          <a:prstGeom prst="ellipse">
            <a:avLst/>
          </a:prstGeom>
          <a:solidFill>
            <a:srgbClr val="0B6E6E"/>
          </a:solidFill>
          <a:ln w="12700">
            <a:solidFill>
              <a:srgbClr val="0B6E6E"/>
            </a:solidFill>
            <a:prstDash val="solid"/>
          </a:ln>
        </p:spPr>
        <p:txBody>
          <a:bodyPr/>
          <a:lstStyle/>
          <a:p>
            <a:endParaRPr lang="en-US"/>
          </a:p>
        </p:txBody>
      </p:sp>
      <p:sp>
        <p:nvSpPr>
          <p:cNvPr id="8" name="Text 6"/>
          <p:cNvSpPr txBox="1"/>
          <p:nvPr/>
        </p:nvSpPr>
        <p:spPr>
          <a:xfrm>
            <a:off x="4434840" y="1371600"/>
            <a:ext cx="54864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QC</a:t>
            </a:r>
            <a:endParaRPr lang="en-US" sz="1400" dirty="0"/>
          </a:p>
        </p:txBody>
      </p:sp>
      <p:sp>
        <p:nvSpPr>
          <p:cNvPr id="9" name="Text 7"/>
          <p:cNvSpPr txBox="1"/>
          <p:nvPr/>
        </p:nvSpPr>
        <p:spPr>
          <a:xfrm>
            <a:off x="5166360" y="1325880"/>
            <a:ext cx="3383280" cy="640080"/>
          </a:xfrm>
          <a:prstGeom prst="rect">
            <a:avLst/>
          </a:prstGeom>
          <a:noFill/>
          <a:ln/>
        </p:spPr>
        <p:txBody>
          <a:bodyPr wrap="square" lIns="0" tIns="0" rIns="0" bIns="0" rtlCol="0" anchor="ctr"/>
          <a:lstStyle/>
          <a:p>
            <a:pPr marL="0" indent="0">
              <a:buNone/>
            </a:pPr>
            <a:r>
              <a:rPr lang="en-US" sz="1400" b="1" dirty="0">
                <a:solidFill>
                  <a:srgbClr val="1B2430"/>
                </a:solidFill>
                <a:latin typeface="Calibri" pitchFamily="34" charset="0"/>
                <a:ea typeface="Calibri" pitchFamily="34" charset="-122"/>
                <a:cs typeface="Calibri" pitchFamily="34" charset="-120"/>
              </a:rPr>
              <a:t>Quality engineers</a:t>
            </a:r>
            <a:endParaRPr lang="en-US" sz="1400" dirty="0"/>
          </a:p>
          <a:p>
            <a:pPr marL="0" indent="0">
              <a:buNone/>
            </a:pPr>
            <a:r>
              <a:rPr lang="en-US" sz="1400" dirty="0">
                <a:solidFill>
                  <a:srgbClr val="1B2430"/>
                </a:solidFill>
                <a:latin typeface="Calibri" pitchFamily="34" charset="0"/>
                <a:ea typeface="Calibri" pitchFamily="34" charset="-122"/>
                <a:cs typeface="Calibri" pitchFamily="34" charset="-120"/>
              </a:rPr>
              <a:t>recurring defects (primary user)</a:t>
            </a:r>
            <a:endParaRPr lang="en-US" sz="1400" dirty="0"/>
          </a:p>
        </p:txBody>
      </p:sp>
      <p:sp>
        <p:nvSpPr>
          <p:cNvPr id="10" name="Shape 8"/>
          <p:cNvSpPr/>
          <p:nvPr/>
        </p:nvSpPr>
        <p:spPr>
          <a:xfrm>
            <a:off x="4297680" y="2130552"/>
            <a:ext cx="4389120" cy="731520"/>
          </a:xfrm>
          <a:prstGeom prst="roundRect">
            <a:avLst>
              <a:gd name="adj" fmla="val 15000"/>
            </a:avLst>
          </a:prstGeom>
          <a:solidFill>
            <a:srgbClr val="F1F5F6"/>
          </a:solidFill>
          <a:ln w="12700">
            <a:solidFill>
              <a:srgbClr val="F1F5F6"/>
            </a:solidFill>
            <a:prstDash val="solid"/>
          </a:ln>
        </p:spPr>
        <p:txBody>
          <a:bodyPr/>
          <a:lstStyle/>
          <a:p>
            <a:endParaRPr lang="en-US"/>
          </a:p>
        </p:txBody>
      </p:sp>
      <p:sp>
        <p:nvSpPr>
          <p:cNvPr id="11" name="Shape 9"/>
          <p:cNvSpPr/>
          <p:nvPr/>
        </p:nvSpPr>
        <p:spPr>
          <a:xfrm>
            <a:off x="4434840" y="2221992"/>
            <a:ext cx="548640" cy="548640"/>
          </a:xfrm>
          <a:prstGeom prst="ellipse">
            <a:avLst/>
          </a:prstGeom>
          <a:solidFill>
            <a:srgbClr val="5D6B7B"/>
          </a:solidFill>
          <a:ln w="12700">
            <a:solidFill>
              <a:srgbClr val="5D6B7B"/>
            </a:solidFill>
            <a:prstDash val="solid"/>
          </a:ln>
        </p:spPr>
        <p:txBody>
          <a:bodyPr/>
          <a:lstStyle/>
          <a:p>
            <a:endParaRPr lang="en-US"/>
          </a:p>
        </p:txBody>
      </p:sp>
      <p:sp>
        <p:nvSpPr>
          <p:cNvPr id="12" name="Text 10"/>
          <p:cNvSpPr txBox="1"/>
          <p:nvPr/>
        </p:nvSpPr>
        <p:spPr>
          <a:xfrm>
            <a:off x="4434840" y="2221992"/>
            <a:ext cx="54864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PE</a:t>
            </a:r>
            <a:endParaRPr lang="en-US" sz="1400" dirty="0"/>
          </a:p>
        </p:txBody>
      </p:sp>
      <p:sp>
        <p:nvSpPr>
          <p:cNvPr id="13" name="Text 11"/>
          <p:cNvSpPr txBox="1"/>
          <p:nvPr/>
        </p:nvSpPr>
        <p:spPr>
          <a:xfrm>
            <a:off x="5166360" y="2176272"/>
            <a:ext cx="3383280" cy="640080"/>
          </a:xfrm>
          <a:prstGeom prst="rect">
            <a:avLst/>
          </a:prstGeom>
          <a:noFill/>
          <a:ln/>
        </p:spPr>
        <p:txBody>
          <a:bodyPr wrap="square" lIns="0" tIns="0" rIns="0" bIns="0" rtlCol="0" anchor="ctr"/>
          <a:lstStyle/>
          <a:p>
            <a:pPr marL="0" indent="0">
              <a:buNone/>
            </a:pPr>
            <a:r>
              <a:rPr lang="en-US" sz="1400" b="1" dirty="0">
                <a:solidFill>
                  <a:srgbClr val="1B2430"/>
                </a:solidFill>
                <a:latin typeface="Calibri" pitchFamily="34" charset="0"/>
                <a:ea typeface="Calibri" pitchFamily="34" charset="-122"/>
                <a:cs typeface="Calibri" pitchFamily="34" charset="-120"/>
              </a:rPr>
              <a:t>Production engineers</a:t>
            </a:r>
            <a:endParaRPr lang="en-US" sz="1400" dirty="0"/>
          </a:p>
          <a:p>
            <a:pPr marL="0" indent="0">
              <a:buNone/>
            </a:pPr>
            <a:r>
              <a:rPr lang="en-US" sz="1400" dirty="0">
                <a:solidFill>
                  <a:srgbClr val="1B2430"/>
                </a:solidFill>
                <a:latin typeface="Calibri" pitchFamily="34" charset="0"/>
                <a:ea typeface="Calibri" pitchFamily="34" charset="-122"/>
                <a:cs typeface="Calibri" pitchFamily="34" charset="-120"/>
              </a:rPr>
              <a:t>output drops</a:t>
            </a:r>
            <a:endParaRPr lang="en-US" sz="1400" dirty="0"/>
          </a:p>
        </p:txBody>
      </p:sp>
      <p:sp>
        <p:nvSpPr>
          <p:cNvPr id="14" name="Shape 12"/>
          <p:cNvSpPr/>
          <p:nvPr/>
        </p:nvSpPr>
        <p:spPr>
          <a:xfrm>
            <a:off x="4297680" y="2980944"/>
            <a:ext cx="4389120" cy="731520"/>
          </a:xfrm>
          <a:prstGeom prst="roundRect">
            <a:avLst>
              <a:gd name="adj" fmla="val 15000"/>
            </a:avLst>
          </a:prstGeom>
          <a:solidFill>
            <a:srgbClr val="F1F5F6"/>
          </a:solidFill>
          <a:ln w="12700">
            <a:solidFill>
              <a:srgbClr val="F1F5F6"/>
            </a:solidFill>
            <a:prstDash val="solid"/>
          </a:ln>
        </p:spPr>
        <p:txBody>
          <a:bodyPr/>
          <a:lstStyle/>
          <a:p>
            <a:endParaRPr lang="en-US"/>
          </a:p>
        </p:txBody>
      </p:sp>
      <p:sp>
        <p:nvSpPr>
          <p:cNvPr id="15" name="Shape 13"/>
          <p:cNvSpPr/>
          <p:nvPr/>
        </p:nvSpPr>
        <p:spPr>
          <a:xfrm>
            <a:off x="4434840" y="3072384"/>
            <a:ext cx="548640" cy="548640"/>
          </a:xfrm>
          <a:prstGeom prst="ellipse">
            <a:avLst/>
          </a:prstGeom>
          <a:solidFill>
            <a:srgbClr val="5D6B7B"/>
          </a:solidFill>
          <a:ln w="12700">
            <a:solidFill>
              <a:srgbClr val="5D6B7B"/>
            </a:solidFill>
            <a:prstDash val="solid"/>
          </a:ln>
        </p:spPr>
        <p:txBody>
          <a:bodyPr/>
          <a:lstStyle/>
          <a:p>
            <a:endParaRPr lang="en-US"/>
          </a:p>
        </p:txBody>
      </p:sp>
      <p:sp>
        <p:nvSpPr>
          <p:cNvPr id="16" name="Text 14"/>
          <p:cNvSpPr txBox="1"/>
          <p:nvPr/>
        </p:nvSpPr>
        <p:spPr>
          <a:xfrm>
            <a:off x="4434840" y="3072384"/>
            <a:ext cx="54864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MT</a:t>
            </a:r>
            <a:endParaRPr lang="en-US" sz="1400" dirty="0"/>
          </a:p>
        </p:txBody>
      </p:sp>
      <p:sp>
        <p:nvSpPr>
          <p:cNvPr id="17" name="Text 15"/>
          <p:cNvSpPr txBox="1"/>
          <p:nvPr/>
        </p:nvSpPr>
        <p:spPr>
          <a:xfrm>
            <a:off x="5166360" y="3026664"/>
            <a:ext cx="3383280" cy="640080"/>
          </a:xfrm>
          <a:prstGeom prst="rect">
            <a:avLst/>
          </a:prstGeom>
          <a:noFill/>
          <a:ln/>
        </p:spPr>
        <p:txBody>
          <a:bodyPr wrap="square" lIns="0" tIns="0" rIns="0" bIns="0" rtlCol="0" anchor="ctr"/>
          <a:lstStyle/>
          <a:p>
            <a:pPr marL="0" indent="0">
              <a:buNone/>
            </a:pPr>
            <a:r>
              <a:rPr lang="en-US" sz="1400" b="1" dirty="0">
                <a:solidFill>
                  <a:srgbClr val="1B2430"/>
                </a:solidFill>
                <a:latin typeface="Calibri" pitchFamily="34" charset="0"/>
                <a:ea typeface="Calibri" pitchFamily="34" charset="-122"/>
                <a:cs typeface="Calibri" pitchFamily="34" charset="-120"/>
              </a:rPr>
              <a:t>Maintenance teams</a:t>
            </a:r>
            <a:endParaRPr lang="en-US" sz="1400" dirty="0"/>
          </a:p>
          <a:p>
            <a:pPr marL="0" indent="0">
              <a:buNone/>
            </a:pPr>
            <a:r>
              <a:rPr lang="en-US" sz="1400" dirty="0">
                <a:solidFill>
                  <a:srgbClr val="1B2430"/>
                </a:solidFill>
                <a:latin typeface="Calibri" pitchFamily="34" charset="0"/>
                <a:ea typeface="Calibri" pitchFamily="34" charset="-122"/>
                <a:cs typeface="Calibri" pitchFamily="34" charset="-120"/>
              </a:rPr>
              <a:t>machine failures</a:t>
            </a:r>
            <a:endParaRPr lang="en-US" sz="1400" dirty="0"/>
          </a:p>
        </p:txBody>
      </p:sp>
      <p:sp>
        <p:nvSpPr>
          <p:cNvPr id="18" name="Shape 16"/>
          <p:cNvSpPr/>
          <p:nvPr/>
        </p:nvSpPr>
        <p:spPr>
          <a:xfrm>
            <a:off x="4297680" y="3831336"/>
            <a:ext cx="4389120" cy="731520"/>
          </a:xfrm>
          <a:prstGeom prst="roundRect">
            <a:avLst>
              <a:gd name="adj" fmla="val 15000"/>
            </a:avLst>
          </a:prstGeom>
          <a:solidFill>
            <a:srgbClr val="F1F5F6"/>
          </a:solidFill>
          <a:ln w="12700">
            <a:solidFill>
              <a:srgbClr val="F1F5F6"/>
            </a:solidFill>
            <a:prstDash val="solid"/>
          </a:ln>
        </p:spPr>
        <p:txBody>
          <a:bodyPr/>
          <a:lstStyle/>
          <a:p>
            <a:endParaRPr lang="en-US"/>
          </a:p>
        </p:txBody>
      </p:sp>
      <p:sp>
        <p:nvSpPr>
          <p:cNvPr id="19" name="Shape 17"/>
          <p:cNvSpPr/>
          <p:nvPr/>
        </p:nvSpPr>
        <p:spPr>
          <a:xfrm>
            <a:off x="4434840" y="3922776"/>
            <a:ext cx="548640" cy="548640"/>
          </a:xfrm>
          <a:prstGeom prst="ellipse">
            <a:avLst/>
          </a:prstGeom>
          <a:solidFill>
            <a:srgbClr val="5D6B7B"/>
          </a:solidFill>
          <a:ln w="12700">
            <a:solidFill>
              <a:srgbClr val="5D6B7B"/>
            </a:solidFill>
            <a:prstDash val="solid"/>
          </a:ln>
        </p:spPr>
        <p:txBody>
          <a:bodyPr/>
          <a:lstStyle/>
          <a:p>
            <a:endParaRPr lang="en-US"/>
          </a:p>
        </p:txBody>
      </p:sp>
      <p:sp>
        <p:nvSpPr>
          <p:cNvPr id="20" name="Text 18"/>
          <p:cNvSpPr txBox="1"/>
          <p:nvPr/>
        </p:nvSpPr>
        <p:spPr>
          <a:xfrm>
            <a:off x="4434840" y="3922776"/>
            <a:ext cx="54864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PM</a:t>
            </a:r>
            <a:endParaRPr lang="en-US" sz="1400" dirty="0"/>
          </a:p>
        </p:txBody>
      </p:sp>
      <p:sp>
        <p:nvSpPr>
          <p:cNvPr id="21" name="Text 19"/>
          <p:cNvSpPr txBox="1"/>
          <p:nvPr/>
        </p:nvSpPr>
        <p:spPr>
          <a:xfrm>
            <a:off x="5166360" y="3877056"/>
            <a:ext cx="3383280" cy="640080"/>
          </a:xfrm>
          <a:prstGeom prst="rect">
            <a:avLst/>
          </a:prstGeom>
          <a:noFill/>
          <a:ln/>
        </p:spPr>
        <p:txBody>
          <a:bodyPr wrap="square" lIns="0" tIns="0" rIns="0" bIns="0" rtlCol="0" anchor="ctr"/>
          <a:lstStyle/>
          <a:p>
            <a:pPr marL="0" indent="0">
              <a:buNone/>
            </a:pPr>
            <a:r>
              <a:rPr lang="en-US" sz="1400" b="1" dirty="0">
                <a:solidFill>
                  <a:srgbClr val="1B2430"/>
                </a:solidFill>
                <a:latin typeface="Calibri" pitchFamily="34" charset="0"/>
                <a:ea typeface="Calibri" pitchFamily="34" charset="-122"/>
                <a:cs typeface="Calibri" pitchFamily="34" charset="-120"/>
              </a:rPr>
              <a:t>Production managers</a:t>
            </a:r>
            <a:endParaRPr lang="en-US" sz="1400" dirty="0"/>
          </a:p>
          <a:p>
            <a:pPr marL="0" indent="0">
              <a:buNone/>
            </a:pPr>
            <a:r>
              <a:rPr lang="en-US" sz="1400" dirty="0">
                <a:solidFill>
                  <a:srgbClr val="1B2430"/>
                </a:solidFill>
                <a:latin typeface="Calibri" pitchFamily="34" charset="0"/>
                <a:ea typeface="Calibri" pitchFamily="34" charset="-122"/>
                <a:cs typeface="Calibri" pitchFamily="34" charset="-120"/>
              </a:rPr>
              <a:t>decision summaries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marL="0" indent="0">
              <a:buNone/>
            </a:pPr>
            <a:r>
              <a:rPr lang="en-US" sz="3200" b="1" dirty="0">
                <a:solidFill>
                  <a:srgbClr val="0F2A33"/>
                </a:solidFill>
                <a:latin typeface="Cambria" pitchFamily="34" charset="0"/>
                <a:ea typeface="Cambria" pitchFamily="34" charset="-122"/>
                <a:cs typeface="Cambria" pitchFamily="34" charset="-120"/>
              </a:rPr>
              <a:t>What every answer contains</a:t>
            </a:r>
            <a:endParaRPr lang="en-US" sz="3200" dirty="0"/>
          </a:p>
        </p:txBody>
      </p:sp>
      <p:sp>
        <p:nvSpPr>
          <p:cNvPr id="3" name="Shape 1"/>
          <p:cNvSpPr/>
          <p:nvPr/>
        </p:nvSpPr>
        <p:spPr>
          <a:xfrm>
            <a:off x="457200" y="1280160"/>
            <a:ext cx="2606040" cy="2286000"/>
          </a:xfrm>
          <a:prstGeom prst="roundRect">
            <a:avLst>
              <a:gd name="adj" fmla="val 4800"/>
            </a:avLst>
          </a:prstGeom>
          <a:solidFill>
            <a:srgbClr val="DDF3E4"/>
          </a:solidFill>
          <a:ln w="12700">
            <a:solidFill>
              <a:srgbClr val="DDF3E4"/>
            </a:solidFill>
            <a:prstDash val="solid"/>
          </a:ln>
        </p:spPr>
        <p:txBody>
          <a:bodyPr/>
          <a:lstStyle/>
          <a:p>
            <a:endParaRPr lang="en-US"/>
          </a:p>
        </p:txBody>
      </p:sp>
      <p:sp>
        <p:nvSpPr>
          <p:cNvPr id="4" name="Text 2"/>
          <p:cNvSpPr txBox="1"/>
          <p:nvPr/>
        </p:nvSpPr>
        <p:spPr>
          <a:xfrm>
            <a:off x="640080" y="1417320"/>
            <a:ext cx="2240280" cy="457200"/>
          </a:xfrm>
          <a:prstGeom prst="rect">
            <a:avLst/>
          </a:prstGeom>
          <a:noFill/>
          <a:ln/>
        </p:spPr>
        <p:txBody>
          <a:bodyPr wrap="square" lIns="0" tIns="0" rIns="0" bIns="0" rtlCol="0" anchor="ctr"/>
          <a:lstStyle/>
          <a:p>
            <a:pPr marL="0" indent="0">
              <a:buNone/>
            </a:pPr>
            <a:r>
              <a:rPr lang="en-US" sz="2000" b="1" dirty="0">
                <a:solidFill>
                  <a:srgbClr val="0F2A33"/>
                </a:solidFill>
                <a:latin typeface="Calibri" pitchFamily="34" charset="0"/>
                <a:ea typeface="Calibri" pitchFamily="34" charset="-122"/>
                <a:cs typeface="Calibri" pitchFamily="34" charset="-120"/>
              </a:rPr>
              <a:t>Observed fact</a:t>
            </a:r>
            <a:endParaRPr lang="en-US" sz="2000" dirty="0"/>
          </a:p>
        </p:txBody>
      </p:sp>
      <p:sp>
        <p:nvSpPr>
          <p:cNvPr id="5" name="Text 3"/>
          <p:cNvSpPr txBox="1"/>
          <p:nvPr/>
        </p:nvSpPr>
        <p:spPr>
          <a:xfrm>
            <a:off x="640080" y="1920240"/>
            <a:ext cx="2240280" cy="1463040"/>
          </a:xfrm>
          <a:prstGeom prst="rect">
            <a:avLst/>
          </a:prstGeom>
          <a:noFill/>
          <a:ln/>
        </p:spPr>
        <p:txBody>
          <a:bodyPr wrap="square" lIns="0" tIns="0" rIns="0" bIns="0" rtlCol="0" anchor="t"/>
          <a:lstStyle/>
          <a:p>
            <a:pPr marL="0" indent="0">
              <a:buNone/>
            </a:pPr>
            <a:r>
              <a:rPr lang="en-US" sz="1600" dirty="0">
                <a:solidFill>
                  <a:srgbClr val="1B2430"/>
                </a:solidFill>
                <a:latin typeface="Calibri" pitchFamily="34" charset="0"/>
                <a:ea typeface="Calibri" pitchFamily="34" charset="-122"/>
                <a:cs typeface="Calibri" pitchFamily="34" charset="-120"/>
              </a:rPr>
              <a:t>Defect rate rose from 2.1% to 3.6%, mostly on Shift 3.</a:t>
            </a:r>
            <a:endParaRPr lang="en-US" sz="1600" dirty="0"/>
          </a:p>
        </p:txBody>
      </p:sp>
      <p:sp>
        <p:nvSpPr>
          <p:cNvPr id="6" name="Shape 4"/>
          <p:cNvSpPr/>
          <p:nvPr/>
        </p:nvSpPr>
        <p:spPr>
          <a:xfrm>
            <a:off x="3268980" y="1280160"/>
            <a:ext cx="2606040" cy="2286000"/>
          </a:xfrm>
          <a:prstGeom prst="roundRect">
            <a:avLst>
              <a:gd name="adj" fmla="val 4800"/>
            </a:avLst>
          </a:prstGeom>
          <a:solidFill>
            <a:srgbClr val="FFF1D6"/>
          </a:solidFill>
          <a:ln w="12700">
            <a:solidFill>
              <a:srgbClr val="FFF1D6"/>
            </a:solidFill>
            <a:prstDash val="solid"/>
          </a:ln>
        </p:spPr>
        <p:txBody>
          <a:bodyPr/>
          <a:lstStyle/>
          <a:p>
            <a:endParaRPr lang="en-US"/>
          </a:p>
        </p:txBody>
      </p:sp>
      <p:sp>
        <p:nvSpPr>
          <p:cNvPr id="7" name="Text 5"/>
          <p:cNvSpPr txBox="1"/>
          <p:nvPr/>
        </p:nvSpPr>
        <p:spPr>
          <a:xfrm>
            <a:off x="3451860" y="1417320"/>
            <a:ext cx="2240280" cy="457200"/>
          </a:xfrm>
          <a:prstGeom prst="rect">
            <a:avLst/>
          </a:prstGeom>
          <a:noFill/>
          <a:ln/>
        </p:spPr>
        <p:txBody>
          <a:bodyPr wrap="square" lIns="0" tIns="0" rIns="0" bIns="0" rtlCol="0" anchor="ctr"/>
          <a:lstStyle/>
          <a:p>
            <a:pPr marL="0" indent="0">
              <a:buNone/>
            </a:pPr>
            <a:r>
              <a:rPr lang="en-US" sz="2000" b="1" dirty="0">
                <a:solidFill>
                  <a:srgbClr val="0F2A33"/>
                </a:solidFill>
                <a:latin typeface="Calibri" pitchFamily="34" charset="0"/>
                <a:ea typeface="Calibri" pitchFamily="34" charset="-122"/>
                <a:cs typeface="Calibri" pitchFamily="34" charset="-120"/>
              </a:rPr>
              <a:t>Hypothesis</a:t>
            </a:r>
            <a:endParaRPr lang="en-US" sz="2000" dirty="0"/>
          </a:p>
        </p:txBody>
      </p:sp>
      <p:sp>
        <p:nvSpPr>
          <p:cNvPr id="8" name="Text 6"/>
          <p:cNvSpPr txBox="1"/>
          <p:nvPr/>
        </p:nvSpPr>
        <p:spPr>
          <a:xfrm>
            <a:off x="3451860" y="1920240"/>
            <a:ext cx="2240280" cy="1463040"/>
          </a:xfrm>
          <a:prstGeom prst="rect">
            <a:avLst/>
          </a:prstGeom>
          <a:noFill/>
          <a:ln/>
        </p:spPr>
        <p:txBody>
          <a:bodyPr wrap="square" lIns="0" tIns="0" rIns="0" bIns="0" rtlCol="0" anchor="t"/>
          <a:lstStyle/>
          <a:p>
            <a:pPr marL="0" indent="0">
              <a:buNone/>
            </a:pPr>
            <a:r>
              <a:rPr lang="en-US" sz="1600" dirty="0">
                <a:solidFill>
                  <a:srgbClr val="1B2430"/>
                </a:solidFill>
                <a:latin typeface="Calibri" pitchFamily="34" charset="0"/>
                <a:ea typeface="Calibri" pitchFamily="34" charset="-122"/>
                <a:cs typeface="Calibri" pitchFamily="34" charset="-120"/>
              </a:rPr>
              <a:t>Oven temperature drift may explain it. Evidence: moderate.</a:t>
            </a:r>
            <a:endParaRPr lang="en-US" sz="1600" dirty="0"/>
          </a:p>
        </p:txBody>
      </p:sp>
      <p:sp>
        <p:nvSpPr>
          <p:cNvPr id="9" name="Shape 7"/>
          <p:cNvSpPr/>
          <p:nvPr/>
        </p:nvSpPr>
        <p:spPr>
          <a:xfrm>
            <a:off x="6080760" y="1280160"/>
            <a:ext cx="2606040" cy="2286000"/>
          </a:xfrm>
          <a:prstGeom prst="roundRect">
            <a:avLst>
              <a:gd name="adj" fmla="val 4800"/>
            </a:avLst>
          </a:prstGeom>
          <a:solidFill>
            <a:srgbClr val="FBE3E3"/>
          </a:solidFill>
          <a:ln w="12700">
            <a:solidFill>
              <a:srgbClr val="FBE3E3"/>
            </a:solidFill>
            <a:prstDash val="solid"/>
          </a:ln>
        </p:spPr>
        <p:txBody>
          <a:bodyPr/>
          <a:lstStyle/>
          <a:p>
            <a:endParaRPr lang="en-US"/>
          </a:p>
        </p:txBody>
      </p:sp>
      <p:sp>
        <p:nvSpPr>
          <p:cNvPr id="10" name="Text 8"/>
          <p:cNvSpPr txBox="1"/>
          <p:nvPr/>
        </p:nvSpPr>
        <p:spPr>
          <a:xfrm>
            <a:off x="6263640" y="1417320"/>
            <a:ext cx="2240280" cy="457200"/>
          </a:xfrm>
          <a:prstGeom prst="rect">
            <a:avLst/>
          </a:prstGeom>
          <a:noFill/>
          <a:ln/>
        </p:spPr>
        <p:txBody>
          <a:bodyPr wrap="square" lIns="0" tIns="0" rIns="0" bIns="0" rtlCol="0" anchor="ctr"/>
          <a:lstStyle/>
          <a:p>
            <a:pPr marL="0" indent="0">
              <a:buNone/>
            </a:pPr>
            <a:r>
              <a:rPr lang="en-US" sz="2000" b="1" dirty="0">
                <a:solidFill>
                  <a:srgbClr val="0F2A33"/>
                </a:solidFill>
                <a:latin typeface="Calibri" pitchFamily="34" charset="0"/>
                <a:ea typeface="Calibri" pitchFamily="34" charset="-122"/>
                <a:cs typeface="Calibri" pitchFamily="34" charset="-120"/>
              </a:rPr>
              <a:t>Missing data</a:t>
            </a:r>
            <a:endParaRPr lang="en-US" sz="2000" dirty="0"/>
          </a:p>
        </p:txBody>
      </p:sp>
      <p:sp>
        <p:nvSpPr>
          <p:cNvPr id="11" name="Text 9"/>
          <p:cNvSpPr txBox="1"/>
          <p:nvPr/>
        </p:nvSpPr>
        <p:spPr>
          <a:xfrm>
            <a:off x="6263640" y="1920240"/>
            <a:ext cx="2240280" cy="1463040"/>
          </a:xfrm>
          <a:prstGeom prst="rect">
            <a:avLst/>
          </a:prstGeom>
          <a:noFill/>
          <a:ln/>
        </p:spPr>
        <p:txBody>
          <a:bodyPr wrap="square" lIns="0" tIns="0" rIns="0" bIns="0" rtlCol="0" anchor="t"/>
          <a:lstStyle/>
          <a:p>
            <a:pPr marL="0" indent="0">
              <a:buNone/>
            </a:pPr>
            <a:r>
              <a:rPr lang="en-US" sz="1600" dirty="0">
                <a:solidFill>
                  <a:srgbClr val="1B2430"/>
                </a:solidFill>
                <a:latin typeface="Calibri" pitchFamily="34" charset="0"/>
                <a:ea typeface="Calibri" pitchFamily="34" charset="-122"/>
                <a:cs typeface="Calibri" pitchFamily="34" charset="-120"/>
              </a:rPr>
              <a:t>Humidity and paint viscosity are not recorded.</a:t>
            </a:r>
            <a:endParaRPr lang="en-US" sz="1600" dirty="0"/>
          </a:p>
        </p:txBody>
      </p:sp>
      <p:sp>
        <p:nvSpPr>
          <p:cNvPr id="12" name="Shape 10"/>
          <p:cNvSpPr/>
          <p:nvPr/>
        </p:nvSpPr>
        <p:spPr>
          <a:xfrm>
            <a:off x="457200" y="3794760"/>
            <a:ext cx="8229600" cy="731520"/>
          </a:xfrm>
          <a:prstGeom prst="roundRect">
            <a:avLst>
              <a:gd name="adj" fmla="val 15000"/>
            </a:avLst>
          </a:prstGeom>
          <a:solidFill>
            <a:srgbClr val="0F2A33"/>
          </a:solidFill>
          <a:ln w="12700">
            <a:solidFill>
              <a:srgbClr val="0F2A33"/>
            </a:solidFill>
            <a:prstDash val="solid"/>
          </a:ln>
        </p:spPr>
        <p:txBody>
          <a:bodyPr/>
          <a:lstStyle/>
          <a:p>
            <a:endParaRPr lang="en-US"/>
          </a:p>
        </p:txBody>
      </p:sp>
      <p:sp>
        <p:nvSpPr>
          <p:cNvPr id="13" name="Text 11"/>
          <p:cNvSpPr txBox="1"/>
          <p:nvPr/>
        </p:nvSpPr>
        <p:spPr>
          <a:xfrm>
            <a:off x="640080" y="3794760"/>
            <a:ext cx="7863840" cy="7315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Each answer shows its source, time range and the next verification step.</a:t>
            </a:r>
            <a:endParaRPr lang="en-US" sz="1600" dirty="0"/>
          </a:p>
        </p:txBody>
      </p:sp>
      <p:sp>
        <p:nvSpPr>
          <p:cNvPr id="14" name="Text 12"/>
          <p:cNvSpPr txBox="1"/>
          <p:nvPr/>
        </p:nvSpPr>
        <p:spPr>
          <a:xfrm>
            <a:off x="457200" y="4709160"/>
            <a:ext cx="8229600" cy="274320"/>
          </a:xfrm>
          <a:prstGeom prst="rect">
            <a:avLst/>
          </a:prstGeom>
          <a:noFill/>
          <a:ln/>
        </p:spPr>
        <p:txBody>
          <a:bodyPr wrap="square" lIns="0" tIns="0" rIns="0" bIns="0" rtlCol="0" anchor="ctr"/>
          <a:lstStyle/>
          <a:p>
            <a:pPr marL="0" indent="0">
              <a:buNone/>
            </a:pPr>
            <a:r>
              <a:rPr lang="en-US" sz="1100" dirty="0">
                <a:solidFill>
                  <a:srgbClr val="5D6B7B"/>
                </a:solidFill>
                <a:latin typeface="Calibri" pitchFamily="34" charset="0"/>
                <a:ea typeface="Calibri" pitchFamily="34" charset="-122"/>
                <a:cs typeface="Calibri" pitchFamily="34" charset="-120"/>
              </a:rPr>
              <a:t>All figures are illustrative, not real factory data.</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marL="0" indent="0">
              <a:buNone/>
            </a:pPr>
            <a:r>
              <a:rPr lang="en-US" sz="3200" b="1" dirty="0">
                <a:solidFill>
                  <a:srgbClr val="0F2A33"/>
                </a:solidFill>
                <a:latin typeface="Cambria" pitchFamily="34" charset="0"/>
                <a:ea typeface="Cambria" pitchFamily="34" charset="-122"/>
                <a:cs typeface="Cambria" pitchFamily="34" charset="-120"/>
              </a:rPr>
              <a:t>Concept A: Ask &amp; Analyze</a:t>
            </a:r>
            <a:endParaRPr lang="en-US" sz="3200" dirty="0"/>
          </a:p>
        </p:txBody>
      </p:sp>
      <p:sp>
        <p:nvSpPr>
          <p:cNvPr id="3" name="Shape 1"/>
          <p:cNvSpPr/>
          <p:nvPr/>
        </p:nvSpPr>
        <p:spPr>
          <a:xfrm>
            <a:off x="457200" y="1280160"/>
            <a:ext cx="1554480" cy="1737360"/>
          </a:xfrm>
          <a:prstGeom prst="roundRect">
            <a:avLst>
              <a:gd name="adj" fmla="val 7059"/>
            </a:avLst>
          </a:prstGeom>
          <a:solidFill>
            <a:srgbClr val="F1F5F6"/>
          </a:solidFill>
          <a:ln w="12700">
            <a:solidFill>
              <a:srgbClr val="F1F5F6"/>
            </a:solidFill>
            <a:prstDash val="solid"/>
          </a:ln>
        </p:spPr>
        <p:txBody>
          <a:bodyPr/>
          <a:lstStyle/>
          <a:p>
            <a:endParaRPr lang="en-US"/>
          </a:p>
        </p:txBody>
      </p:sp>
      <p:sp>
        <p:nvSpPr>
          <p:cNvPr id="4" name="Shape 2"/>
          <p:cNvSpPr/>
          <p:nvPr/>
        </p:nvSpPr>
        <p:spPr>
          <a:xfrm>
            <a:off x="594360" y="1417320"/>
            <a:ext cx="457200" cy="457200"/>
          </a:xfrm>
          <a:prstGeom prst="ellipse">
            <a:avLst/>
          </a:prstGeom>
          <a:solidFill>
            <a:srgbClr val="0B6E6E"/>
          </a:solidFill>
          <a:ln w="12700">
            <a:solidFill>
              <a:srgbClr val="0B6E6E"/>
            </a:solidFill>
            <a:prstDash val="solid"/>
          </a:ln>
        </p:spPr>
        <p:txBody>
          <a:bodyPr/>
          <a:lstStyle/>
          <a:p>
            <a:endParaRPr lang="en-US"/>
          </a:p>
        </p:txBody>
      </p:sp>
      <p:sp>
        <p:nvSpPr>
          <p:cNvPr id="5" name="Text 3"/>
          <p:cNvSpPr txBox="1"/>
          <p:nvPr/>
        </p:nvSpPr>
        <p:spPr>
          <a:xfrm>
            <a:off x="594360" y="141732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566928" y="2011680"/>
            <a:ext cx="1335024" cy="914400"/>
          </a:xfrm>
          <a:prstGeom prst="rect">
            <a:avLst/>
          </a:prstGeom>
          <a:noFill/>
          <a:ln/>
        </p:spPr>
        <p:txBody>
          <a:bodyPr wrap="square" lIns="0" tIns="0" rIns="0" bIns="0" rtlCol="0" anchor="t"/>
          <a:lstStyle/>
          <a:p>
            <a:pPr marL="0" indent="0">
              <a:buNone/>
            </a:pPr>
            <a:r>
              <a:rPr lang="en-US" sz="1400" b="1" dirty="0">
                <a:solidFill>
                  <a:srgbClr val="0F2A33"/>
                </a:solidFill>
                <a:latin typeface="Calibri" pitchFamily="34" charset="0"/>
                <a:ea typeface="Calibri" pitchFamily="34" charset="-122"/>
                <a:cs typeface="Calibri" pitchFamily="34" charset="-120"/>
              </a:rPr>
              <a:t>User asks a question</a:t>
            </a:r>
            <a:endParaRPr lang="en-US" sz="1400" dirty="0"/>
          </a:p>
        </p:txBody>
      </p:sp>
      <p:sp>
        <p:nvSpPr>
          <p:cNvPr id="7" name="Shape 5"/>
          <p:cNvSpPr/>
          <p:nvPr/>
        </p:nvSpPr>
        <p:spPr>
          <a:xfrm>
            <a:off x="2125980" y="1280160"/>
            <a:ext cx="1554480" cy="1737360"/>
          </a:xfrm>
          <a:prstGeom prst="roundRect">
            <a:avLst>
              <a:gd name="adj" fmla="val 7059"/>
            </a:avLst>
          </a:prstGeom>
          <a:solidFill>
            <a:srgbClr val="F1F5F6"/>
          </a:solidFill>
          <a:ln w="12700">
            <a:solidFill>
              <a:srgbClr val="F1F5F6"/>
            </a:solidFill>
            <a:prstDash val="solid"/>
          </a:ln>
        </p:spPr>
        <p:txBody>
          <a:bodyPr/>
          <a:lstStyle/>
          <a:p>
            <a:endParaRPr lang="en-US"/>
          </a:p>
        </p:txBody>
      </p:sp>
      <p:sp>
        <p:nvSpPr>
          <p:cNvPr id="8" name="Shape 6"/>
          <p:cNvSpPr/>
          <p:nvPr/>
        </p:nvSpPr>
        <p:spPr>
          <a:xfrm>
            <a:off x="2263140" y="1417320"/>
            <a:ext cx="457200" cy="457200"/>
          </a:xfrm>
          <a:prstGeom prst="ellipse">
            <a:avLst/>
          </a:prstGeom>
          <a:solidFill>
            <a:srgbClr val="0B6E6E"/>
          </a:solidFill>
          <a:ln w="12700">
            <a:solidFill>
              <a:srgbClr val="0B6E6E"/>
            </a:solidFill>
            <a:prstDash val="solid"/>
          </a:ln>
        </p:spPr>
        <p:txBody>
          <a:bodyPr/>
          <a:lstStyle/>
          <a:p>
            <a:endParaRPr lang="en-US"/>
          </a:p>
        </p:txBody>
      </p:sp>
      <p:sp>
        <p:nvSpPr>
          <p:cNvPr id="9" name="Text 7"/>
          <p:cNvSpPr txBox="1"/>
          <p:nvPr/>
        </p:nvSpPr>
        <p:spPr>
          <a:xfrm>
            <a:off x="2263140" y="141732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2235708" y="2011680"/>
            <a:ext cx="1335024" cy="914400"/>
          </a:xfrm>
          <a:prstGeom prst="rect">
            <a:avLst/>
          </a:prstGeom>
          <a:noFill/>
          <a:ln/>
        </p:spPr>
        <p:txBody>
          <a:bodyPr wrap="square" lIns="0" tIns="0" rIns="0" bIns="0" rtlCol="0" anchor="t"/>
          <a:lstStyle/>
          <a:p>
            <a:pPr marL="0" indent="0">
              <a:buNone/>
            </a:pPr>
            <a:r>
              <a:rPr lang="en-US" sz="1400" b="1" dirty="0">
                <a:solidFill>
                  <a:srgbClr val="0F2A33"/>
                </a:solidFill>
                <a:latin typeface="Calibri" pitchFamily="34" charset="0"/>
                <a:ea typeface="Calibri" pitchFamily="34" charset="-122"/>
                <a:cs typeface="Calibri" pitchFamily="34" charset="-120"/>
              </a:rPr>
              <a:t>System identifies the data needed</a:t>
            </a:r>
            <a:endParaRPr lang="en-US" sz="1400" dirty="0"/>
          </a:p>
        </p:txBody>
      </p:sp>
      <p:sp>
        <p:nvSpPr>
          <p:cNvPr id="11" name="Shape 9"/>
          <p:cNvSpPr/>
          <p:nvPr/>
        </p:nvSpPr>
        <p:spPr>
          <a:xfrm>
            <a:off x="3794760" y="1280160"/>
            <a:ext cx="1554480" cy="1737360"/>
          </a:xfrm>
          <a:prstGeom prst="roundRect">
            <a:avLst>
              <a:gd name="adj" fmla="val 7059"/>
            </a:avLst>
          </a:prstGeom>
          <a:solidFill>
            <a:srgbClr val="F1F5F6"/>
          </a:solidFill>
          <a:ln w="12700">
            <a:solidFill>
              <a:srgbClr val="F1F5F6"/>
            </a:solidFill>
            <a:prstDash val="solid"/>
          </a:ln>
        </p:spPr>
        <p:txBody>
          <a:bodyPr/>
          <a:lstStyle/>
          <a:p>
            <a:endParaRPr lang="en-US"/>
          </a:p>
        </p:txBody>
      </p:sp>
      <p:sp>
        <p:nvSpPr>
          <p:cNvPr id="12" name="Shape 10"/>
          <p:cNvSpPr/>
          <p:nvPr/>
        </p:nvSpPr>
        <p:spPr>
          <a:xfrm>
            <a:off x="3931920" y="1417320"/>
            <a:ext cx="457200" cy="457200"/>
          </a:xfrm>
          <a:prstGeom prst="ellipse">
            <a:avLst/>
          </a:prstGeom>
          <a:solidFill>
            <a:srgbClr val="0B6E6E"/>
          </a:solidFill>
          <a:ln w="12700">
            <a:solidFill>
              <a:srgbClr val="0B6E6E"/>
            </a:solidFill>
            <a:prstDash val="solid"/>
          </a:ln>
        </p:spPr>
        <p:txBody>
          <a:bodyPr/>
          <a:lstStyle/>
          <a:p>
            <a:endParaRPr lang="en-US"/>
          </a:p>
        </p:txBody>
      </p:sp>
      <p:sp>
        <p:nvSpPr>
          <p:cNvPr id="13" name="Text 11"/>
          <p:cNvSpPr txBox="1"/>
          <p:nvPr/>
        </p:nvSpPr>
        <p:spPr>
          <a:xfrm>
            <a:off x="3931920" y="141732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3904488" y="2011680"/>
            <a:ext cx="1335024" cy="914400"/>
          </a:xfrm>
          <a:prstGeom prst="rect">
            <a:avLst/>
          </a:prstGeom>
          <a:noFill/>
          <a:ln/>
        </p:spPr>
        <p:txBody>
          <a:bodyPr wrap="square" lIns="0" tIns="0" rIns="0" bIns="0" rtlCol="0" anchor="t"/>
          <a:lstStyle/>
          <a:p>
            <a:pPr marL="0" indent="0">
              <a:buNone/>
            </a:pPr>
            <a:r>
              <a:rPr lang="en-US" sz="1400" b="1" dirty="0">
                <a:solidFill>
                  <a:srgbClr val="0F2A33"/>
                </a:solidFill>
                <a:latin typeface="Calibri" pitchFamily="34" charset="0"/>
                <a:ea typeface="Calibri" pitchFamily="34" charset="-122"/>
                <a:cs typeface="Calibri" pitchFamily="34" charset="-120"/>
              </a:rPr>
              <a:t>Retrieves and analyzes data</a:t>
            </a:r>
            <a:endParaRPr lang="en-US" sz="1400" dirty="0"/>
          </a:p>
        </p:txBody>
      </p:sp>
      <p:sp>
        <p:nvSpPr>
          <p:cNvPr id="15" name="Shape 13"/>
          <p:cNvSpPr/>
          <p:nvPr/>
        </p:nvSpPr>
        <p:spPr>
          <a:xfrm>
            <a:off x="5463540" y="1280160"/>
            <a:ext cx="1554480" cy="1737360"/>
          </a:xfrm>
          <a:prstGeom prst="roundRect">
            <a:avLst>
              <a:gd name="adj" fmla="val 7059"/>
            </a:avLst>
          </a:prstGeom>
          <a:solidFill>
            <a:srgbClr val="F1F5F6"/>
          </a:solidFill>
          <a:ln w="12700">
            <a:solidFill>
              <a:srgbClr val="F1F5F6"/>
            </a:solidFill>
            <a:prstDash val="solid"/>
          </a:ln>
        </p:spPr>
        <p:txBody>
          <a:bodyPr/>
          <a:lstStyle/>
          <a:p>
            <a:endParaRPr lang="en-US"/>
          </a:p>
        </p:txBody>
      </p:sp>
      <p:sp>
        <p:nvSpPr>
          <p:cNvPr id="16" name="Shape 14"/>
          <p:cNvSpPr/>
          <p:nvPr/>
        </p:nvSpPr>
        <p:spPr>
          <a:xfrm>
            <a:off x="5600700" y="1417320"/>
            <a:ext cx="457200" cy="457200"/>
          </a:xfrm>
          <a:prstGeom prst="ellipse">
            <a:avLst/>
          </a:prstGeom>
          <a:solidFill>
            <a:srgbClr val="0B6E6E"/>
          </a:solidFill>
          <a:ln w="12700">
            <a:solidFill>
              <a:srgbClr val="0B6E6E"/>
            </a:solidFill>
            <a:prstDash val="solid"/>
          </a:ln>
        </p:spPr>
        <p:txBody>
          <a:bodyPr/>
          <a:lstStyle/>
          <a:p>
            <a:endParaRPr lang="en-US"/>
          </a:p>
        </p:txBody>
      </p:sp>
      <p:sp>
        <p:nvSpPr>
          <p:cNvPr id="17" name="Text 15"/>
          <p:cNvSpPr txBox="1"/>
          <p:nvPr/>
        </p:nvSpPr>
        <p:spPr>
          <a:xfrm>
            <a:off x="5600700" y="141732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txBox="1"/>
          <p:nvPr/>
        </p:nvSpPr>
        <p:spPr>
          <a:xfrm>
            <a:off x="5573268" y="2011680"/>
            <a:ext cx="1335024" cy="914400"/>
          </a:xfrm>
          <a:prstGeom prst="rect">
            <a:avLst/>
          </a:prstGeom>
          <a:noFill/>
          <a:ln/>
        </p:spPr>
        <p:txBody>
          <a:bodyPr wrap="square" lIns="0" tIns="0" rIns="0" bIns="0" rtlCol="0" anchor="t"/>
          <a:lstStyle/>
          <a:p>
            <a:pPr marL="0" indent="0">
              <a:buNone/>
            </a:pPr>
            <a:r>
              <a:rPr lang="en-US" sz="1400" b="1" dirty="0">
                <a:solidFill>
                  <a:srgbClr val="0F2A33"/>
                </a:solidFill>
                <a:latin typeface="Calibri" pitchFamily="34" charset="0"/>
                <a:ea typeface="Calibri" pitchFamily="34" charset="-122"/>
                <a:cs typeface="Calibri" pitchFamily="34" charset="-120"/>
              </a:rPr>
              <a:t>Shows result with evidence</a:t>
            </a:r>
            <a:endParaRPr lang="en-US" sz="1400" dirty="0"/>
          </a:p>
        </p:txBody>
      </p:sp>
      <p:sp>
        <p:nvSpPr>
          <p:cNvPr id="19" name="Shape 17"/>
          <p:cNvSpPr/>
          <p:nvPr/>
        </p:nvSpPr>
        <p:spPr>
          <a:xfrm>
            <a:off x="7132320" y="1280160"/>
            <a:ext cx="1554480" cy="1737360"/>
          </a:xfrm>
          <a:prstGeom prst="roundRect">
            <a:avLst>
              <a:gd name="adj" fmla="val 7059"/>
            </a:avLst>
          </a:prstGeom>
          <a:solidFill>
            <a:srgbClr val="F1F5F6"/>
          </a:solidFill>
          <a:ln w="12700">
            <a:solidFill>
              <a:srgbClr val="F1F5F6"/>
            </a:solidFill>
            <a:prstDash val="solid"/>
          </a:ln>
        </p:spPr>
        <p:txBody>
          <a:bodyPr/>
          <a:lstStyle/>
          <a:p>
            <a:endParaRPr lang="en-US"/>
          </a:p>
        </p:txBody>
      </p:sp>
      <p:sp>
        <p:nvSpPr>
          <p:cNvPr id="20" name="Shape 18"/>
          <p:cNvSpPr/>
          <p:nvPr/>
        </p:nvSpPr>
        <p:spPr>
          <a:xfrm>
            <a:off x="7269480" y="1417320"/>
            <a:ext cx="457200" cy="457200"/>
          </a:xfrm>
          <a:prstGeom prst="ellipse">
            <a:avLst/>
          </a:prstGeom>
          <a:solidFill>
            <a:srgbClr val="0B6E6E"/>
          </a:solidFill>
          <a:ln w="12700">
            <a:solidFill>
              <a:srgbClr val="0B6E6E"/>
            </a:solidFill>
            <a:prstDash val="solid"/>
          </a:ln>
        </p:spPr>
        <p:txBody>
          <a:bodyPr/>
          <a:lstStyle/>
          <a:p>
            <a:endParaRPr lang="en-US"/>
          </a:p>
        </p:txBody>
      </p:sp>
      <p:sp>
        <p:nvSpPr>
          <p:cNvPr id="21" name="Text 19"/>
          <p:cNvSpPr txBox="1"/>
          <p:nvPr/>
        </p:nvSpPr>
        <p:spPr>
          <a:xfrm>
            <a:off x="7269480" y="141732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2" name="Text 20"/>
          <p:cNvSpPr txBox="1"/>
          <p:nvPr/>
        </p:nvSpPr>
        <p:spPr>
          <a:xfrm>
            <a:off x="7242048" y="2011680"/>
            <a:ext cx="1335024" cy="914400"/>
          </a:xfrm>
          <a:prstGeom prst="rect">
            <a:avLst/>
          </a:prstGeom>
          <a:noFill/>
          <a:ln/>
        </p:spPr>
        <p:txBody>
          <a:bodyPr wrap="square" lIns="0" tIns="0" rIns="0" bIns="0" rtlCol="0" anchor="t"/>
          <a:lstStyle/>
          <a:p>
            <a:pPr marL="0" indent="0">
              <a:buNone/>
            </a:pPr>
            <a:r>
              <a:rPr lang="en-US" sz="1400" b="1" dirty="0">
                <a:solidFill>
                  <a:srgbClr val="0F2A33"/>
                </a:solidFill>
                <a:latin typeface="Calibri" pitchFamily="34" charset="0"/>
                <a:ea typeface="Calibri" pitchFamily="34" charset="-122"/>
                <a:cs typeface="Calibri" pitchFamily="34" charset="-120"/>
              </a:rPr>
              <a:t>Suggests follow-up questions</a:t>
            </a:r>
            <a:endParaRPr lang="en-US" sz="1400" dirty="0"/>
          </a:p>
        </p:txBody>
      </p:sp>
      <p:sp>
        <p:nvSpPr>
          <p:cNvPr id="23" name="Shape 21"/>
          <p:cNvSpPr/>
          <p:nvPr/>
        </p:nvSpPr>
        <p:spPr>
          <a:xfrm>
            <a:off x="457200" y="3200400"/>
            <a:ext cx="8229600" cy="640080"/>
          </a:xfrm>
          <a:prstGeom prst="roundRect">
            <a:avLst>
              <a:gd name="adj" fmla="val 17143"/>
            </a:avLst>
          </a:prstGeom>
          <a:solidFill>
            <a:srgbClr val="D9EEEE"/>
          </a:solidFill>
          <a:ln w="12700">
            <a:solidFill>
              <a:srgbClr val="D9EEEE"/>
            </a:solidFill>
            <a:prstDash val="solid"/>
          </a:ln>
        </p:spPr>
        <p:txBody>
          <a:bodyPr/>
          <a:lstStyle/>
          <a:p>
            <a:endParaRPr lang="en-US"/>
          </a:p>
        </p:txBody>
      </p:sp>
      <p:sp>
        <p:nvSpPr>
          <p:cNvPr id="24" name="Text 22"/>
          <p:cNvSpPr txBox="1"/>
          <p:nvPr/>
        </p:nvSpPr>
        <p:spPr>
          <a:xfrm>
            <a:off x="640080" y="3200400"/>
            <a:ext cx="7863840" cy="640080"/>
          </a:xfrm>
          <a:prstGeom prst="rect">
            <a:avLst/>
          </a:prstGeom>
          <a:noFill/>
          <a:ln/>
        </p:spPr>
        <p:txBody>
          <a:bodyPr wrap="square" lIns="0" tIns="0" rIns="0" bIns="0" rtlCol="0" anchor="ctr"/>
          <a:lstStyle/>
          <a:p>
            <a:r>
              <a:rPr lang="en-US" sz="1400" b="1" dirty="0">
                <a:solidFill>
                  <a:srgbClr val="1B2430"/>
                </a:solidFill>
                <a:latin typeface="Calibri" pitchFamily="34" charset="0"/>
                <a:ea typeface="Calibri" pitchFamily="34" charset="-122"/>
                <a:cs typeface="Calibri" pitchFamily="34" charset="-120"/>
              </a:rPr>
              <a:t>Example: </a:t>
            </a:r>
            <a:r>
              <a:rPr lang="en-US" sz="1400" dirty="0">
                <a:solidFill>
                  <a:srgbClr val="1B2430"/>
                </a:solidFill>
                <a:latin typeface="Calibri" pitchFamily="34" charset="0"/>
                <a:ea typeface="Calibri" pitchFamily="34" charset="-122"/>
                <a:cs typeface="Calibri" pitchFamily="34" charset="-120"/>
              </a:rPr>
              <a:t>" How much defects happens this week?"</a:t>
            </a:r>
            <a:endParaRPr lang="en-US" sz="1400" dirty="0"/>
          </a:p>
        </p:txBody>
      </p:sp>
      <p:sp>
        <p:nvSpPr>
          <p:cNvPr id="25" name="Shape 23"/>
          <p:cNvSpPr/>
          <p:nvPr/>
        </p:nvSpPr>
        <p:spPr>
          <a:xfrm>
            <a:off x="457200" y="4023360"/>
            <a:ext cx="4023360" cy="685800"/>
          </a:xfrm>
          <a:prstGeom prst="roundRect">
            <a:avLst>
              <a:gd name="adj" fmla="val 16000"/>
            </a:avLst>
          </a:prstGeom>
          <a:solidFill>
            <a:srgbClr val="DDF3E4"/>
          </a:solidFill>
          <a:ln w="12700">
            <a:solidFill>
              <a:srgbClr val="DDF3E4"/>
            </a:solidFill>
            <a:prstDash val="solid"/>
          </a:ln>
        </p:spPr>
        <p:txBody>
          <a:bodyPr/>
          <a:lstStyle/>
          <a:p>
            <a:endParaRPr lang="en-US"/>
          </a:p>
        </p:txBody>
      </p:sp>
      <p:sp>
        <p:nvSpPr>
          <p:cNvPr id="26" name="Shape 24"/>
          <p:cNvSpPr/>
          <p:nvPr/>
        </p:nvSpPr>
        <p:spPr>
          <a:xfrm>
            <a:off x="4663440" y="4023360"/>
            <a:ext cx="4023360" cy="685800"/>
          </a:xfrm>
          <a:prstGeom prst="roundRect">
            <a:avLst>
              <a:gd name="adj" fmla="val 16000"/>
            </a:avLst>
          </a:prstGeom>
          <a:solidFill>
            <a:srgbClr val="FBE3E3"/>
          </a:solidFill>
          <a:ln w="12700">
            <a:solidFill>
              <a:srgbClr val="FBE3E3"/>
            </a:solidFill>
            <a:prstDash val="solid"/>
          </a:ln>
        </p:spPr>
        <p:txBody>
          <a:bodyPr/>
          <a:lstStyle/>
          <a:p>
            <a:endParaRPr lang="en-US"/>
          </a:p>
        </p:txBody>
      </p:sp>
      <p:sp>
        <p:nvSpPr>
          <p:cNvPr id="27" name="Text 25"/>
          <p:cNvSpPr txBox="1"/>
          <p:nvPr/>
        </p:nvSpPr>
        <p:spPr>
          <a:xfrm>
            <a:off x="594360" y="4023360"/>
            <a:ext cx="3749040" cy="685800"/>
          </a:xfrm>
          <a:prstGeom prst="rect">
            <a:avLst/>
          </a:prstGeom>
          <a:noFill/>
          <a:ln/>
        </p:spPr>
        <p:txBody>
          <a:bodyPr wrap="square" lIns="0" tIns="0" rIns="0" bIns="0" rtlCol="0" anchor="ctr"/>
          <a:lstStyle/>
          <a:p>
            <a:pPr marL="0" indent="0">
              <a:buNone/>
            </a:pPr>
            <a:r>
              <a:rPr lang="en-US" sz="1400" b="1" dirty="0">
                <a:solidFill>
                  <a:srgbClr val="1B2430"/>
                </a:solidFill>
                <a:latin typeface="Calibri" pitchFamily="34" charset="0"/>
                <a:ea typeface="Calibri" pitchFamily="34" charset="-122"/>
                <a:cs typeface="Calibri" pitchFamily="34" charset="-120"/>
              </a:rPr>
              <a:t>Strength: </a:t>
            </a:r>
            <a:r>
              <a:rPr lang="en-US" sz="1400" dirty="0">
                <a:solidFill>
                  <a:srgbClr val="1B2430"/>
                </a:solidFill>
                <a:latin typeface="Calibri" pitchFamily="34" charset="0"/>
                <a:ea typeface="Calibri" pitchFamily="34" charset="-122"/>
                <a:cs typeface="Calibri" pitchFamily="34" charset="-120"/>
              </a:rPr>
              <a:t>fast and direct</a:t>
            </a:r>
            <a:endParaRPr lang="en-US" sz="1400" dirty="0"/>
          </a:p>
        </p:txBody>
      </p:sp>
      <p:sp>
        <p:nvSpPr>
          <p:cNvPr id="28" name="Text 26"/>
          <p:cNvSpPr txBox="1"/>
          <p:nvPr/>
        </p:nvSpPr>
        <p:spPr>
          <a:xfrm>
            <a:off x="4800600" y="4023360"/>
            <a:ext cx="3749040" cy="685800"/>
          </a:xfrm>
          <a:prstGeom prst="rect">
            <a:avLst/>
          </a:prstGeom>
          <a:noFill/>
          <a:ln/>
        </p:spPr>
        <p:txBody>
          <a:bodyPr wrap="square" lIns="0" tIns="0" rIns="0" bIns="0" rtlCol="0" anchor="ctr"/>
          <a:lstStyle/>
          <a:p>
            <a:pPr marL="0" indent="0">
              <a:buNone/>
            </a:pPr>
            <a:r>
              <a:rPr lang="en-US" sz="1400" b="1" dirty="0">
                <a:solidFill>
                  <a:srgbClr val="1B2430"/>
                </a:solidFill>
                <a:latin typeface="Calibri" pitchFamily="34" charset="0"/>
                <a:ea typeface="Calibri" pitchFamily="34" charset="-122"/>
                <a:cs typeface="Calibri" pitchFamily="34" charset="-120"/>
              </a:rPr>
              <a:t>Weakness: </a:t>
            </a:r>
            <a:r>
              <a:rPr lang="en-US" sz="1400" dirty="0">
                <a:solidFill>
                  <a:srgbClr val="1B2430"/>
                </a:solidFill>
                <a:latin typeface="Calibri" pitchFamily="34" charset="0"/>
                <a:ea typeface="Calibri" pitchFamily="34" charset="-122"/>
                <a:cs typeface="Calibri" pitchFamily="34" charset="-120"/>
              </a:rPr>
              <a:t>may give an incomplete analysis for vague questions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marL="0" indent="0">
              <a:buNone/>
            </a:pPr>
            <a:r>
              <a:rPr lang="en-US" sz="3200" b="1" dirty="0">
                <a:solidFill>
                  <a:srgbClr val="0F2A33"/>
                </a:solidFill>
                <a:latin typeface="Cambria" pitchFamily="34" charset="0"/>
                <a:ea typeface="Cambria" pitchFamily="34" charset="-122"/>
                <a:cs typeface="Cambria" pitchFamily="34" charset="-120"/>
              </a:rPr>
              <a:t>Concept B: Guided Investigation</a:t>
            </a:r>
            <a:endParaRPr lang="en-US" sz="3200" dirty="0"/>
          </a:p>
        </p:txBody>
      </p:sp>
      <p:sp>
        <p:nvSpPr>
          <p:cNvPr id="3" name="Shape 1"/>
          <p:cNvSpPr/>
          <p:nvPr/>
        </p:nvSpPr>
        <p:spPr>
          <a:xfrm>
            <a:off x="457200" y="1280160"/>
            <a:ext cx="1554480" cy="1737360"/>
          </a:xfrm>
          <a:prstGeom prst="roundRect">
            <a:avLst>
              <a:gd name="adj" fmla="val 7059"/>
            </a:avLst>
          </a:prstGeom>
          <a:solidFill>
            <a:srgbClr val="F1F5F6"/>
          </a:solidFill>
          <a:ln w="12700">
            <a:solidFill>
              <a:srgbClr val="F1F5F6"/>
            </a:solidFill>
            <a:prstDash val="solid"/>
          </a:ln>
        </p:spPr>
        <p:txBody>
          <a:bodyPr/>
          <a:lstStyle/>
          <a:p>
            <a:endParaRPr lang="en-US"/>
          </a:p>
        </p:txBody>
      </p:sp>
      <p:sp>
        <p:nvSpPr>
          <p:cNvPr id="4" name="Shape 2"/>
          <p:cNvSpPr/>
          <p:nvPr/>
        </p:nvSpPr>
        <p:spPr>
          <a:xfrm>
            <a:off x="594360" y="1417320"/>
            <a:ext cx="457200" cy="457200"/>
          </a:xfrm>
          <a:prstGeom prst="ellipse">
            <a:avLst/>
          </a:prstGeom>
          <a:solidFill>
            <a:srgbClr val="0B6E6E"/>
          </a:solidFill>
          <a:ln w="12700">
            <a:solidFill>
              <a:srgbClr val="0B6E6E"/>
            </a:solidFill>
            <a:prstDash val="solid"/>
          </a:ln>
        </p:spPr>
        <p:txBody>
          <a:bodyPr/>
          <a:lstStyle/>
          <a:p>
            <a:endParaRPr lang="en-US"/>
          </a:p>
        </p:txBody>
      </p:sp>
      <p:sp>
        <p:nvSpPr>
          <p:cNvPr id="5" name="Text 3"/>
          <p:cNvSpPr txBox="1"/>
          <p:nvPr/>
        </p:nvSpPr>
        <p:spPr>
          <a:xfrm>
            <a:off x="594360" y="141732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566928" y="2011680"/>
            <a:ext cx="1335024" cy="914400"/>
          </a:xfrm>
          <a:prstGeom prst="rect">
            <a:avLst/>
          </a:prstGeom>
          <a:noFill/>
          <a:ln/>
        </p:spPr>
        <p:txBody>
          <a:bodyPr wrap="square" lIns="0" tIns="0" rIns="0" bIns="0" rtlCol="0" anchor="t"/>
          <a:lstStyle/>
          <a:p>
            <a:pPr marL="0" indent="0">
              <a:buNone/>
            </a:pPr>
            <a:r>
              <a:rPr lang="en-US" sz="1400" b="1" dirty="0">
                <a:solidFill>
                  <a:srgbClr val="0F2A33"/>
                </a:solidFill>
                <a:latin typeface="Calibri" pitchFamily="34" charset="0"/>
                <a:ea typeface="Calibri" pitchFamily="34" charset="-122"/>
                <a:cs typeface="Calibri" pitchFamily="34" charset="-120"/>
              </a:rPr>
              <a:t>User describes the problem</a:t>
            </a:r>
            <a:endParaRPr lang="en-US" sz="1400" dirty="0"/>
          </a:p>
        </p:txBody>
      </p:sp>
      <p:sp>
        <p:nvSpPr>
          <p:cNvPr id="7" name="Shape 5"/>
          <p:cNvSpPr/>
          <p:nvPr/>
        </p:nvSpPr>
        <p:spPr>
          <a:xfrm>
            <a:off x="2125980" y="1280160"/>
            <a:ext cx="1554480" cy="1737360"/>
          </a:xfrm>
          <a:prstGeom prst="roundRect">
            <a:avLst>
              <a:gd name="adj" fmla="val 7059"/>
            </a:avLst>
          </a:prstGeom>
          <a:solidFill>
            <a:srgbClr val="F1F5F6"/>
          </a:solidFill>
          <a:ln w="12700">
            <a:solidFill>
              <a:srgbClr val="F1F5F6"/>
            </a:solidFill>
            <a:prstDash val="solid"/>
          </a:ln>
        </p:spPr>
        <p:txBody>
          <a:bodyPr/>
          <a:lstStyle/>
          <a:p>
            <a:endParaRPr lang="en-US"/>
          </a:p>
        </p:txBody>
      </p:sp>
      <p:sp>
        <p:nvSpPr>
          <p:cNvPr id="8" name="Shape 6"/>
          <p:cNvSpPr/>
          <p:nvPr/>
        </p:nvSpPr>
        <p:spPr>
          <a:xfrm>
            <a:off x="2263140" y="1417320"/>
            <a:ext cx="457200" cy="457200"/>
          </a:xfrm>
          <a:prstGeom prst="ellipse">
            <a:avLst/>
          </a:prstGeom>
          <a:solidFill>
            <a:srgbClr val="0B6E6E"/>
          </a:solidFill>
          <a:ln w="12700">
            <a:solidFill>
              <a:srgbClr val="0B6E6E"/>
            </a:solidFill>
            <a:prstDash val="solid"/>
          </a:ln>
        </p:spPr>
        <p:txBody>
          <a:bodyPr/>
          <a:lstStyle/>
          <a:p>
            <a:endParaRPr lang="en-US"/>
          </a:p>
        </p:txBody>
      </p:sp>
      <p:sp>
        <p:nvSpPr>
          <p:cNvPr id="9" name="Text 7"/>
          <p:cNvSpPr txBox="1"/>
          <p:nvPr/>
        </p:nvSpPr>
        <p:spPr>
          <a:xfrm>
            <a:off x="2263140" y="141732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2235708" y="2011680"/>
            <a:ext cx="1335024" cy="914400"/>
          </a:xfrm>
          <a:prstGeom prst="rect">
            <a:avLst/>
          </a:prstGeom>
          <a:noFill/>
          <a:ln/>
        </p:spPr>
        <p:txBody>
          <a:bodyPr wrap="square" lIns="0" tIns="0" rIns="0" bIns="0" rtlCol="0" anchor="t"/>
          <a:lstStyle/>
          <a:p>
            <a:pPr marL="0" indent="0">
              <a:buNone/>
            </a:pPr>
            <a:r>
              <a:rPr lang="en-US" sz="1400" b="1" dirty="0">
                <a:solidFill>
                  <a:srgbClr val="0F2A33"/>
                </a:solidFill>
                <a:latin typeface="Calibri" pitchFamily="34" charset="0"/>
                <a:ea typeface="Calibri" pitchFamily="34" charset="-122"/>
                <a:cs typeface="Calibri" pitchFamily="34" charset="-120"/>
              </a:rPr>
              <a:t>System clarifies period or product</a:t>
            </a:r>
            <a:endParaRPr lang="en-US" sz="1400" dirty="0"/>
          </a:p>
        </p:txBody>
      </p:sp>
      <p:sp>
        <p:nvSpPr>
          <p:cNvPr id="11" name="Shape 9"/>
          <p:cNvSpPr/>
          <p:nvPr/>
        </p:nvSpPr>
        <p:spPr>
          <a:xfrm>
            <a:off x="3794760" y="1280160"/>
            <a:ext cx="1554480" cy="1737360"/>
          </a:xfrm>
          <a:prstGeom prst="roundRect">
            <a:avLst>
              <a:gd name="adj" fmla="val 7059"/>
            </a:avLst>
          </a:prstGeom>
          <a:solidFill>
            <a:srgbClr val="F1F5F6"/>
          </a:solidFill>
          <a:ln w="12700">
            <a:solidFill>
              <a:srgbClr val="F1F5F6"/>
            </a:solidFill>
            <a:prstDash val="solid"/>
          </a:ln>
        </p:spPr>
        <p:txBody>
          <a:bodyPr/>
          <a:lstStyle/>
          <a:p>
            <a:endParaRPr lang="en-US"/>
          </a:p>
        </p:txBody>
      </p:sp>
      <p:sp>
        <p:nvSpPr>
          <p:cNvPr id="12" name="Shape 10"/>
          <p:cNvSpPr/>
          <p:nvPr/>
        </p:nvSpPr>
        <p:spPr>
          <a:xfrm>
            <a:off x="3931920" y="1417320"/>
            <a:ext cx="457200" cy="457200"/>
          </a:xfrm>
          <a:prstGeom prst="ellipse">
            <a:avLst/>
          </a:prstGeom>
          <a:solidFill>
            <a:srgbClr val="0B6E6E"/>
          </a:solidFill>
          <a:ln w="12700">
            <a:solidFill>
              <a:srgbClr val="0B6E6E"/>
            </a:solidFill>
            <a:prstDash val="solid"/>
          </a:ln>
        </p:spPr>
        <p:txBody>
          <a:bodyPr/>
          <a:lstStyle/>
          <a:p>
            <a:endParaRPr lang="en-US"/>
          </a:p>
        </p:txBody>
      </p:sp>
      <p:sp>
        <p:nvSpPr>
          <p:cNvPr id="13" name="Text 11"/>
          <p:cNvSpPr txBox="1"/>
          <p:nvPr/>
        </p:nvSpPr>
        <p:spPr>
          <a:xfrm>
            <a:off x="3931920" y="141732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3904488" y="2011680"/>
            <a:ext cx="1335024" cy="914400"/>
          </a:xfrm>
          <a:prstGeom prst="rect">
            <a:avLst/>
          </a:prstGeom>
          <a:noFill/>
          <a:ln/>
        </p:spPr>
        <p:txBody>
          <a:bodyPr wrap="square" lIns="0" tIns="0" rIns="0" bIns="0" rtlCol="0" anchor="t"/>
          <a:lstStyle/>
          <a:p>
            <a:pPr marL="0" indent="0">
              <a:buNone/>
            </a:pPr>
            <a:r>
              <a:rPr lang="en-US" sz="1400" b="1" dirty="0">
                <a:solidFill>
                  <a:srgbClr val="0F2A33"/>
                </a:solidFill>
                <a:latin typeface="Calibri" pitchFamily="34" charset="0"/>
                <a:ea typeface="Calibri" pitchFamily="34" charset="-122"/>
                <a:cs typeface="Calibri" pitchFamily="34" charset="-120"/>
              </a:rPr>
              <a:t>Checks quality, production and maintenance records</a:t>
            </a:r>
            <a:endParaRPr lang="en-US" sz="1400" dirty="0"/>
          </a:p>
        </p:txBody>
      </p:sp>
      <p:sp>
        <p:nvSpPr>
          <p:cNvPr id="15" name="Shape 13"/>
          <p:cNvSpPr/>
          <p:nvPr/>
        </p:nvSpPr>
        <p:spPr>
          <a:xfrm>
            <a:off x="5463540" y="1280160"/>
            <a:ext cx="1554480" cy="1737360"/>
          </a:xfrm>
          <a:prstGeom prst="roundRect">
            <a:avLst>
              <a:gd name="adj" fmla="val 7059"/>
            </a:avLst>
          </a:prstGeom>
          <a:solidFill>
            <a:srgbClr val="F1F5F6"/>
          </a:solidFill>
          <a:ln w="12700">
            <a:solidFill>
              <a:srgbClr val="F1F5F6"/>
            </a:solidFill>
            <a:prstDash val="solid"/>
          </a:ln>
        </p:spPr>
        <p:txBody>
          <a:bodyPr/>
          <a:lstStyle/>
          <a:p>
            <a:endParaRPr lang="en-US"/>
          </a:p>
        </p:txBody>
      </p:sp>
      <p:sp>
        <p:nvSpPr>
          <p:cNvPr id="16" name="Shape 14"/>
          <p:cNvSpPr/>
          <p:nvPr/>
        </p:nvSpPr>
        <p:spPr>
          <a:xfrm>
            <a:off x="5600700" y="1417320"/>
            <a:ext cx="457200" cy="457200"/>
          </a:xfrm>
          <a:prstGeom prst="ellipse">
            <a:avLst/>
          </a:prstGeom>
          <a:solidFill>
            <a:srgbClr val="0B6E6E"/>
          </a:solidFill>
          <a:ln w="12700">
            <a:solidFill>
              <a:srgbClr val="0B6E6E"/>
            </a:solidFill>
            <a:prstDash val="solid"/>
          </a:ln>
        </p:spPr>
        <p:txBody>
          <a:bodyPr/>
          <a:lstStyle/>
          <a:p>
            <a:endParaRPr lang="en-US"/>
          </a:p>
        </p:txBody>
      </p:sp>
      <p:sp>
        <p:nvSpPr>
          <p:cNvPr id="17" name="Text 15"/>
          <p:cNvSpPr txBox="1"/>
          <p:nvPr/>
        </p:nvSpPr>
        <p:spPr>
          <a:xfrm>
            <a:off x="5600700" y="141732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txBox="1"/>
          <p:nvPr/>
        </p:nvSpPr>
        <p:spPr>
          <a:xfrm>
            <a:off x="5573268" y="2011680"/>
            <a:ext cx="1335024" cy="914400"/>
          </a:xfrm>
          <a:prstGeom prst="rect">
            <a:avLst/>
          </a:prstGeom>
          <a:noFill/>
          <a:ln/>
        </p:spPr>
        <p:txBody>
          <a:bodyPr wrap="square" lIns="0" tIns="0" rIns="0" bIns="0" rtlCol="0" anchor="t"/>
          <a:lstStyle/>
          <a:p>
            <a:pPr marL="0" indent="0">
              <a:buNone/>
            </a:pPr>
            <a:r>
              <a:rPr lang="en-US" sz="1400" b="1" dirty="0">
                <a:solidFill>
                  <a:srgbClr val="0F2A33"/>
                </a:solidFill>
                <a:latin typeface="Calibri" pitchFamily="34" charset="0"/>
                <a:ea typeface="Calibri" pitchFamily="34" charset="-122"/>
                <a:cs typeface="Calibri" pitchFamily="34" charset="-120"/>
              </a:rPr>
              <a:t>Shows hypotheses with evidence</a:t>
            </a:r>
            <a:endParaRPr lang="en-US" sz="1400" dirty="0"/>
          </a:p>
        </p:txBody>
      </p:sp>
      <p:sp>
        <p:nvSpPr>
          <p:cNvPr id="19" name="Shape 17"/>
          <p:cNvSpPr/>
          <p:nvPr/>
        </p:nvSpPr>
        <p:spPr>
          <a:xfrm>
            <a:off x="7132320" y="1280160"/>
            <a:ext cx="1554480" cy="1737360"/>
          </a:xfrm>
          <a:prstGeom prst="roundRect">
            <a:avLst>
              <a:gd name="adj" fmla="val 7059"/>
            </a:avLst>
          </a:prstGeom>
          <a:solidFill>
            <a:srgbClr val="F1F5F6"/>
          </a:solidFill>
          <a:ln w="12700">
            <a:solidFill>
              <a:srgbClr val="F1F5F6"/>
            </a:solidFill>
            <a:prstDash val="solid"/>
          </a:ln>
        </p:spPr>
        <p:txBody>
          <a:bodyPr/>
          <a:lstStyle/>
          <a:p>
            <a:endParaRPr lang="en-US"/>
          </a:p>
        </p:txBody>
      </p:sp>
      <p:sp>
        <p:nvSpPr>
          <p:cNvPr id="20" name="Shape 18"/>
          <p:cNvSpPr/>
          <p:nvPr/>
        </p:nvSpPr>
        <p:spPr>
          <a:xfrm>
            <a:off x="7269480" y="1417320"/>
            <a:ext cx="457200" cy="457200"/>
          </a:xfrm>
          <a:prstGeom prst="ellipse">
            <a:avLst/>
          </a:prstGeom>
          <a:solidFill>
            <a:srgbClr val="0B6E6E"/>
          </a:solidFill>
          <a:ln w="12700">
            <a:solidFill>
              <a:srgbClr val="0B6E6E"/>
            </a:solidFill>
            <a:prstDash val="solid"/>
          </a:ln>
        </p:spPr>
        <p:txBody>
          <a:bodyPr/>
          <a:lstStyle/>
          <a:p>
            <a:endParaRPr lang="en-US"/>
          </a:p>
        </p:txBody>
      </p:sp>
      <p:sp>
        <p:nvSpPr>
          <p:cNvPr id="21" name="Text 19"/>
          <p:cNvSpPr txBox="1"/>
          <p:nvPr/>
        </p:nvSpPr>
        <p:spPr>
          <a:xfrm>
            <a:off x="7269480" y="141732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2" name="Text 20"/>
          <p:cNvSpPr txBox="1"/>
          <p:nvPr/>
        </p:nvSpPr>
        <p:spPr>
          <a:xfrm>
            <a:off x="7242048" y="2011680"/>
            <a:ext cx="1335024" cy="914400"/>
          </a:xfrm>
          <a:prstGeom prst="rect">
            <a:avLst/>
          </a:prstGeom>
          <a:noFill/>
          <a:ln/>
        </p:spPr>
        <p:txBody>
          <a:bodyPr wrap="square" lIns="0" tIns="0" rIns="0" bIns="0" rtlCol="0" anchor="t"/>
          <a:lstStyle/>
          <a:p>
            <a:pPr marL="0" indent="0">
              <a:buNone/>
            </a:pPr>
            <a:r>
              <a:rPr lang="en-US" sz="1400" b="1" dirty="0">
                <a:solidFill>
                  <a:srgbClr val="0F2A33"/>
                </a:solidFill>
                <a:latin typeface="Calibri" pitchFamily="34" charset="0"/>
                <a:ea typeface="Calibri" pitchFamily="34" charset="-122"/>
                <a:cs typeface="Calibri" pitchFamily="34" charset="-120"/>
              </a:rPr>
              <a:t>Recommends the next verification step</a:t>
            </a:r>
            <a:endParaRPr lang="en-US" sz="1400" dirty="0"/>
          </a:p>
        </p:txBody>
      </p:sp>
      <p:sp>
        <p:nvSpPr>
          <p:cNvPr id="23" name="Shape 21"/>
          <p:cNvSpPr/>
          <p:nvPr/>
        </p:nvSpPr>
        <p:spPr>
          <a:xfrm>
            <a:off x="457200" y="3200400"/>
            <a:ext cx="8229600" cy="640080"/>
          </a:xfrm>
          <a:prstGeom prst="roundRect">
            <a:avLst>
              <a:gd name="adj" fmla="val 17143"/>
            </a:avLst>
          </a:prstGeom>
          <a:solidFill>
            <a:srgbClr val="D9EEEE"/>
          </a:solidFill>
          <a:ln w="12700">
            <a:solidFill>
              <a:srgbClr val="D9EEEE"/>
            </a:solidFill>
            <a:prstDash val="solid"/>
          </a:ln>
        </p:spPr>
        <p:txBody>
          <a:bodyPr/>
          <a:lstStyle/>
          <a:p>
            <a:endParaRPr lang="en-US"/>
          </a:p>
        </p:txBody>
      </p:sp>
      <p:sp>
        <p:nvSpPr>
          <p:cNvPr id="24" name="Text 22"/>
          <p:cNvSpPr txBox="1"/>
          <p:nvPr/>
        </p:nvSpPr>
        <p:spPr>
          <a:xfrm>
            <a:off x="640080" y="3200400"/>
            <a:ext cx="7863840" cy="640080"/>
          </a:xfrm>
          <a:prstGeom prst="rect">
            <a:avLst/>
          </a:prstGeom>
          <a:noFill/>
          <a:ln/>
        </p:spPr>
        <p:txBody>
          <a:bodyPr wrap="square" lIns="0" tIns="0" rIns="0" bIns="0" rtlCol="0" anchor="ctr"/>
          <a:lstStyle/>
          <a:p>
            <a:r>
              <a:rPr lang="en-US" sz="1400" b="1" dirty="0">
                <a:solidFill>
                  <a:srgbClr val="1B2430"/>
                </a:solidFill>
                <a:latin typeface="Calibri" pitchFamily="34" charset="0"/>
                <a:ea typeface="Calibri" pitchFamily="34" charset="-122"/>
                <a:cs typeface="Calibri" pitchFamily="34" charset="-120"/>
              </a:rPr>
              <a:t>Example: </a:t>
            </a:r>
            <a:r>
              <a:rPr lang="en-US" sz="1400" dirty="0">
                <a:solidFill>
                  <a:srgbClr val="1B2430"/>
                </a:solidFill>
                <a:latin typeface="Calibri" pitchFamily="34" charset="0"/>
                <a:ea typeface="Calibri" pitchFamily="34" charset="-122"/>
                <a:cs typeface="Calibri" pitchFamily="34" charset="-120"/>
              </a:rPr>
              <a:t>" Why did defect rates increase this week ? Lets investigate."</a:t>
            </a:r>
            <a:endParaRPr lang="en-US" sz="1400" dirty="0"/>
          </a:p>
        </p:txBody>
      </p:sp>
      <p:sp>
        <p:nvSpPr>
          <p:cNvPr id="25" name="Shape 23"/>
          <p:cNvSpPr/>
          <p:nvPr/>
        </p:nvSpPr>
        <p:spPr>
          <a:xfrm>
            <a:off x="457200" y="4023360"/>
            <a:ext cx="4023360" cy="685800"/>
          </a:xfrm>
          <a:prstGeom prst="roundRect">
            <a:avLst>
              <a:gd name="adj" fmla="val 16000"/>
            </a:avLst>
          </a:prstGeom>
          <a:solidFill>
            <a:srgbClr val="DDF3E4"/>
          </a:solidFill>
          <a:ln w="12700">
            <a:solidFill>
              <a:srgbClr val="DDF3E4"/>
            </a:solidFill>
            <a:prstDash val="solid"/>
          </a:ln>
        </p:spPr>
        <p:txBody>
          <a:bodyPr/>
          <a:lstStyle/>
          <a:p>
            <a:endParaRPr lang="en-US"/>
          </a:p>
        </p:txBody>
      </p:sp>
      <p:sp>
        <p:nvSpPr>
          <p:cNvPr id="26" name="Shape 24"/>
          <p:cNvSpPr/>
          <p:nvPr/>
        </p:nvSpPr>
        <p:spPr>
          <a:xfrm>
            <a:off x="4663440" y="4023360"/>
            <a:ext cx="4023360" cy="685800"/>
          </a:xfrm>
          <a:prstGeom prst="roundRect">
            <a:avLst>
              <a:gd name="adj" fmla="val 16000"/>
            </a:avLst>
          </a:prstGeom>
          <a:solidFill>
            <a:srgbClr val="FBE3E3"/>
          </a:solidFill>
          <a:ln w="12700">
            <a:solidFill>
              <a:srgbClr val="FBE3E3"/>
            </a:solidFill>
            <a:prstDash val="solid"/>
          </a:ln>
        </p:spPr>
        <p:txBody>
          <a:bodyPr/>
          <a:lstStyle/>
          <a:p>
            <a:endParaRPr lang="en-US"/>
          </a:p>
        </p:txBody>
      </p:sp>
      <p:sp>
        <p:nvSpPr>
          <p:cNvPr id="27" name="Text 25"/>
          <p:cNvSpPr txBox="1"/>
          <p:nvPr/>
        </p:nvSpPr>
        <p:spPr>
          <a:xfrm>
            <a:off x="594360" y="4023360"/>
            <a:ext cx="3749040" cy="685800"/>
          </a:xfrm>
          <a:prstGeom prst="rect">
            <a:avLst/>
          </a:prstGeom>
          <a:noFill/>
          <a:ln/>
        </p:spPr>
        <p:txBody>
          <a:bodyPr wrap="square" lIns="0" tIns="0" rIns="0" bIns="0" rtlCol="0" anchor="ctr"/>
          <a:lstStyle/>
          <a:p>
            <a:pPr marL="0" indent="0">
              <a:buNone/>
            </a:pPr>
            <a:r>
              <a:rPr lang="en-US" sz="1400" b="1" dirty="0">
                <a:solidFill>
                  <a:srgbClr val="1B2430"/>
                </a:solidFill>
                <a:latin typeface="Calibri" pitchFamily="34" charset="0"/>
                <a:ea typeface="Calibri" pitchFamily="34" charset="-122"/>
                <a:cs typeface="Calibri" pitchFamily="34" charset="-120"/>
              </a:rPr>
              <a:t>Strength: </a:t>
            </a:r>
            <a:r>
              <a:rPr lang="en-US" sz="1400" dirty="0">
                <a:solidFill>
                  <a:srgbClr val="1B2430"/>
                </a:solidFill>
                <a:latin typeface="Calibri" pitchFamily="34" charset="0"/>
                <a:ea typeface="Calibri" pitchFamily="34" charset="-122"/>
                <a:cs typeface="Calibri" pitchFamily="34" charset="-120"/>
              </a:rPr>
              <a:t>reduces guessing, shows reasons</a:t>
            </a:r>
            <a:endParaRPr lang="en-US" sz="1400" dirty="0"/>
          </a:p>
        </p:txBody>
      </p:sp>
      <p:sp>
        <p:nvSpPr>
          <p:cNvPr id="28" name="Text 26"/>
          <p:cNvSpPr txBox="1"/>
          <p:nvPr/>
        </p:nvSpPr>
        <p:spPr>
          <a:xfrm>
            <a:off x="4800600" y="4023360"/>
            <a:ext cx="3749040" cy="685800"/>
          </a:xfrm>
          <a:prstGeom prst="rect">
            <a:avLst/>
          </a:prstGeom>
          <a:noFill/>
          <a:ln/>
        </p:spPr>
        <p:txBody>
          <a:bodyPr wrap="square" lIns="0" tIns="0" rIns="0" bIns="0" rtlCol="0" anchor="ctr"/>
          <a:lstStyle/>
          <a:p>
            <a:pPr marL="0" indent="0">
              <a:buNone/>
            </a:pPr>
            <a:r>
              <a:rPr lang="en-US" sz="1400" b="1" dirty="0">
                <a:solidFill>
                  <a:srgbClr val="1B2430"/>
                </a:solidFill>
                <a:latin typeface="Calibri" pitchFamily="34" charset="0"/>
                <a:ea typeface="Calibri" pitchFamily="34" charset="-122"/>
                <a:cs typeface="Calibri" pitchFamily="34" charset="-120"/>
              </a:rPr>
              <a:t>Weakness: </a:t>
            </a:r>
            <a:r>
              <a:rPr lang="en-US" sz="1400" dirty="0">
                <a:solidFill>
                  <a:srgbClr val="1B2430"/>
                </a:solidFill>
                <a:latin typeface="Calibri" pitchFamily="34" charset="0"/>
                <a:ea typeface="Calibri" pitchFamily="34" charset="-122"/>
                <a:cs typeface="Calibri" pitchFamily="34" charset="-120"/>
              </a:rPr>
              <a:t>slower, needs extra questions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marL="0" indent="0">
              <a:buNone/>
            </a:pPr>
            <a:r>
              <a:rPr lang="en-US" sz="3200" b="1" dirty="0">
                <a:solidFill>
                  <a:srgbClr val="0F2A33"/>
                </a:solidFill>
                <a:latin typeface="Cambria" pitchFamily="34" charset="0"/>
                <a:ea typeface="Cambria" pitchFamily="34" charset="-122"/>
                <a:cs typeface="Cambria" pitchFamily="34" charset="-120"/>
              </a:rPr>
              <a:t>Side-by-side comparison</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3182112"/>
        </p:xfrm>
        <a:graphic>
          <a:graphicData uri="http://schemas.openxmlformats.org/drawingml/2006/table">
            <a:tbl>
              <a:tblPr/>
              <a:tblGrid>
                <a:gridCol w="201168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530352">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Criterion</a:t>
                      </a:r>
                      <a:endParaRPr lang="en-US" sz="1400" dirty="0">
                        <a:latin typeface="Calibri" charset="0"/>
                        <a:ea typeface="Calibri" charset="0"/>
                        <a:cs typeface="Calibri" charset="0"/>
                      </a:endParaRPr>
                    </a:p>
                  </a:txBody>
                  <a:tcPr marT="36576" marB="36576" anchor="ctr">
                    <a:lnL w="12700" cap="flat" cmpd="sng" algn="ctr">
                      <a:solidFill>
                        <a:srgbClr val="D5DCE1"/>
                      </a:solidFill>
                      <a:prstDash val="solid"/>
                      <a:round/>
                      <a:headEnd type="none" w="med" len="med"/>
                      <a:tailEnd type="none" w="med" len="med"/>
                    </a:lnL>
                    <a:lnR w="12700" cap="flat" cmpd="sng" algn="ctr">
                      <a:solidFill>
                        <a:srgbClr val="D5DCE1"/>
                      </a:solidFill>
                      <a:prstDash val="solid"/>
                      <a:round/>
                      <a:headEnd type="none" w="med" len="med"/>
                      <a:tailEnd type="none" w="med" len="med"/>
                    </a:lnR>
                    <a:lnT w="12700" cap="flat" cmpd="sng" algn="ctr">
                      <a:solidFill>
                        <a:srgbClr val="D5DCE1"/>
                      </a:solidFill>
                      <a:prstDash val="solid"/>
                      <a:round/>
                      <a:headEnd type="none" w="med" len="med"/>
                      <a:tailEnd type="none" w="med" len="med"/>
                    </a:lnT>
                    <a:lnB w="12700" cap="flat" cmpd="sng" algn="ctr">
                      <a:solidFill>
                        <a:srgbClr val="D5DCE1"/>
                      </a:solidFill>
                      <a:prstDash val="solid"/>
                      <a:round/>
                      <a:headEnd type="none" w="med" len="med"/>
                      <a:tailEnd type="none" w="med" len="med"/>
                    </a:lnB>
                    <a:solidFill>
                      <a:srgbClr val="0F2A33"/>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Concept A</a:t>
                      </a:r>
                      <a:endParaRPr lang="en-US" sz="1400" dirty="0">
                        <a:latin typeface="Calibri" charset="0"/>
                        <a:ea typeface="Calibri" charset="0"/>
                        <a:cs typeface="Calibri" charset="0"/>
                      </a:endParaRPr>
                    </a:p>
                  </a:txBody>
                  <a:tcPr marT="36576" marB="36576" anchor="ctr">
                    <a:lnL w="12700" cap="flat" cmpd="sng" algn="ctr">
                      <a:solidFill>
                        <a:srgbClr val="D5DCE1"/>
                      </a:solidFill>
                      <a:prstDash val="solid"/>
                      <a:round/>
                      <a:headEnd type="none" w="med" len="med"/>
                      <a:tailEnd type="none" w="med" len="med"/>
                    </a:lnL>
                    <a:lnR w="12700" cap="flat" cmpd="sng" algn="ctr">
                      <a:solidFill>
                        <a:srgbClr val="D5DCE1"/>
                      </a:solidFill>
                      <a:prstDash val="solid"/>
                      <a:round/>
                      <a:headEnd type="none" w="med" len="med"/>
                      <a:tailEnd type="none" w="med" len="med"/>
                    </a:lnR>
                    <a:lnT w="12700" cap="flat" cmpd="sng" algn="ctr">
                      <a:solidFill>
                        <a:srgbClr val="D5DCE1"/>
                      </a:solidFill>
                      <a:prstDash val="solid"/>
                      <a:round/>
                      <a:headEnd type="none" w="med" len="med"/>
                      <a:tailEnd type="none" w="med" len="med"/>
                    </a:lnT>
                    <a:lnB w="12700" cap="flat" cmpd="sng" algn="ctr">
                      <a:solidFill>
                        <a:srgbClr val="D5DCE1"/>
                      </a:solidFill>
                      <a:prstDash val="solid"/>
                      <a:round/>
                      <a:headEnd type="none" w="med" len="med"/>
                      <a:tailEnd type="none" w="med" len="med"/>
                    </a:lnB>
                    <a:solidFill>
                      <a:srgbClr val="0F2A33"/>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Concept B</a:t>
                      </a:r>
                      <a:endParaRPr lang="en-US" sz="1400" dirty="0">
                        <a:latin typeface="Calibri" charset="0"/>
                        <a:ea typeface="Calibri" charset="0"/>
                        <a:cs typeface="Calibri" charset="0"/>
                      </a:endParaRPr>
                    </a:p>
                  </a:txBody>
                  <a:tcPr marT="36576" marB="36576" anchor="ctr">
                    <a:lnL w="12700" cap="flat" cmpd="sng" algn="ctr">
                      <a:solidFill>
                        <a:srgbClr val="D5DCE1"/>
                      </a:solidFill>
                      <a:prstDash val="solid"/>
                      <a:round/>
                      <a:headEnd type="none" w="med" len="med"/>
                      <a:tailEnd type="none" w="med" len="med"/>
                    </a:lnL>
                    <a:lnR w="12700" cap="flat" cmpd="sng" algn="ctr">
                      <a:solidFill>
                        <a:srgbClr val="D5DCE1"/>
                      </a:solidFill>
                      <a:prstDash val="solid"/>
                      <a:round/>
                      <a:headEnd type="none" w="med" len="med"/>
                      <a:tailEnd type="none" w="med" len="med"/>
                    </a:lnR>
                    <a:lnT w="12700" cap="flat" cmpd="sng" algn="ctr">
                      <a:solidFill>
                        <a:srgbClr val="D5DCE1"/>
                      </a:solidFill>
                      <a:prstDash val="solid"/>
                      <a:round/>
                      <a:headEnd type="none" w="med" len="med"/>
                      <a:tailEnd type="none" w="med" len="med"/>
                    </a:lnT>
                    <a:lnB w="12700" cap="flat" cmpd="sng" algn="ctr">
                      <a:solidFill>
                        <a:srgbClr val="D5DCE1"/>
                      </a:solidFill>
                      <a:prstDash val="solid"/>
                      <a:round/>
                      <a:headEnd type="none" w="med" len="med"/>
                      <a:tailEnd type="none" w="med" len="med"/>
                    </a:lnB>
                    <a:solidFill>
                      <a:srgbClr val="0F2A33"/>
                    </a:solidFill>
                  </a:tcPr>
                </a:tc>
                <a:extLst>
                  <a:ext uri="{0D108BD9-81ED-4DB2-BD59-A6C34878D82A}">
                    <a16:rowId xmlns:a16="http://schemas.microsoft.com/office/drawing/2014/main" val="10000"/>
                  </a:ext>
                </a:extLst>
              </a:tr>
              <a:tr h="530352">
                <a:tc>
                  <a:txBody>
                    <a:bodyPr/>
                    <a:lstStyle/>
                    <a:p>
                      <a:pPr marL="0" indent="0">
                        <a:buNone/>
                      </a:pPr>
                      <a:r>
                        <a:rPr lang="en-US" sz="1400" dirty="0">
                          <a:solidFill>
                            <a:srgbClr val="1B2430"/>
                          </a:solidFill>
                          <a:latin typeface="Calibri" pitchFamily="34" charset="0"/>
                          <a:ea typeface="Calibri" pitchFamily="34" charset="-122"/>
                          <a:cs typeface="Calibri" pitchFamily="34" charset="-120"/>
                        </a:rPr>
                        <a:t>Speed</a:t>
                      </a:r>
                      <a:endParaRPr lang="en-US" sz="1400" dirty="0">
                        <a:latin typeface="Calibri" charset="0"/>
                        <a:ea typeface="Calibri" charset="0"/>
                        <a:cs typeface="Calibri" charset="0"/>
                      </a:endParaRPr>
                    </a:p>
                  </a:txBody>
                  <a:tcPr marT="36576" marB="36576" anchor="ctr">
                    <a:lnL w="12700" cap="flat" cmpd="sng" algn="ctr">
                      <a:solidFill>
                        <a:srgbClr val="D5DCE1"/>
                      </a:solidFill>
                      <a:prstDash val="solid"/>
                      <a:round/>
                      <a:headEnd type="none" w="med" len="med"/>
                      <a:tailEnd type="none" w="med" len="med"/>
                    </a:lnL>
                    <a:lnR w="12700" cap="flat" cmpd="sng" algn="ctr">
                      <a:solidFill>
                        <a:srgbClr val="D5DCE1"/>
                      </a:solidFill>
                      <a:prstDash val="solid"/>
                      <a:round/>
                      <a:headEnd type="none" w="med" len="med"/>
                      <a:tailEnd type="none" w="med" len="med"/>
                    </a:lnR>
                    <a:lnT w="12700" cap="flat" cmpd="sng" algn="ctr">
                      <a:solidFill>
                        <a:srgbClr val="D5DCE1"/>
                      </a:solidFill>
                      <a:prstDash val="solid"/>
                      <a:round/>
                      <a:headEnd type="none" w="med" len="med"/>
                      <a:tailEnd type="none" w="med" len="med"/>
                    </a:lnT>
                    <a:lnB w="12700" cap="flat" cmpd="sng" algn="ctr">
                      <a:solidFill>
                        <a:srgbClr val="D5DCE1"/>
                      </a:solidFill>
                      <a:prstDash val="solid"/>
                      <a:round/>
                      <a:headEnd type="none" w="med" len="med"/>
                      <a:tailEnd type="none" w="med" len="med"/>
                    </a:lnB>
                  </a:tcPr>
                </a:tc>
                <a:tc>
                  <a:txBody>
                    <a:bodyPr/>
                    <a:lstStyle/>
                    <a:p>
                      <a:pPr marL="0" indent="0">
                        <a:buNone/>
                      </a:pPr>
                      <a:r>
                        <a:rPr lang="en-US" sz="1400" dirty="0">
                          <a:solidFill>
                            <a:srgbClr val="1B2430"/>
                          </a:solidFill>
                          <a:latin typeface="Calibri" pitchFamily="34" charset="0"/>
                          <a:ea typeface="Calibri" pitchFamily="34" charset="-122"/>
                          <a:cs typeface="Calibri" pitchFamily="34" charset="-120"/>
                        </a:rPr>
                        <a:t>Excellent: one turn</a:t>
                      </a:r>
                      <a:endParaRPr lang="en-US" sz="1400" dirty="0">
                        <a:latin typeface="Calibri" charset="0"/>
                        <a:ea typeface="Calibri" charset="0"/>
                        <a:cs typeface="Calibri" charset="0"/>
                      </a:endParaRPr>
                    </a:p>
                  </a:txBody>
                  <a:tcPr marT="36576" marB="36576" anchor="ctr">
                    <a:lnL w="12700" cap="flat" cmpd="sng" algn="ctr">
                      <a:solidFill>
                        <a:srgbClr val="D5DCE1"/>
                      </a:solidFill>
                      <a:prstDash val="solid"/>
                      <a:round/>
                      <a:headEnd type="none" w="med" len="med"/>
                      <a:tailEnd type="none" w="med" len="med"/>
                    </a:lnL>
                    <a:lnR w="12700" cap="flat" cmpd="sng" algn="ctr">
                      <a:solidFill>
                        <a:srgbClr val="D5DCE1"/>
                      </a:solidFill>
                      <a:prstDash val="solid"/>
                      <a:round/>
                      <a:headEnd type="none" w="med" len="med"/>
                      <a:tailEnd type="none" w="med" len="med"/>
                    </a:lnR>
                    <a:lnT w="12700" cap="flat" cmpd="sng" algn="ctr">
                      <a:solidFill>
                        <a:srgbClr val="D5DCE1"/>
                      </a:solidFill>
                      <a:prstDash val="solid"/>
                      <a:round/>
                      <a:headEnd type="none" w="med" len="med"/>
                      <a:tailEnd type="none" w="med" len="med"/>
                    </a:lnT>
                    <a:lnB w="12700" cap="flat" cmpd="sng" algn="ctr">
                      <a:solidFill>
                        <a:srgbClr val="D5DCE1"/>
                      </a:solidFill>
                      <a:prstDash val="solid"/>
                      <a:round/>
                      <a:headEnd type="none" w="med" len="med"/>
                      <a:tailEnd type="none" w="med" len="med"/>
                    </a:lnB>
                  </a:tcPr>
                </a:tc>
                <a:tc>
                  <a:txBody>
                    <a:bodyPr/>
                    <a:lstStyle/>
                    <a:p>
                      <a:pPr marL="0" indent="0">
                        <a:buNone/>
                      </a:pPr>
                      <a:r>
                        <a:rPr lang="en-US" sz="1400" dirty="0">
                          <a:solidFill>
                            <a:srgbClr val="1B2430"/>
                          </a:solidFill>
                          <a:latin typeface="Calibri" pitchFamily="34" charset="0"/>
                          <a:ea typeface="Calibri" pitchFamily="34" charset="-122"/>
                          <a:cs typeface="Calibri" pitchFamily="34" charset="-120"/>
                        </a:rPr>
                        <a:t>Good: 3–4 turns</a:t>
                      </a:r>
                      <a:endParaRPr lang="en-US" sz="1400" dirty="0">
                        <a:latin typeface="Calibri" charset="0"/>
                        <a:ea typeface="Calibri" charset="0"/>
                        <a:cs typeface="Calibri" charset="0"/>
                      </a:endParaRPr>
                    </a:p>
                  </a:txBody>
                  <a:tcPr marT="36576" marB="36576" anchor="ctr">
                    <a:lnL w="12700" cap="flat" cmpd="sng" algn="ctr">
                      <a:solidFill>
                        <a:srgbClr val="D5DCE1"/>
                      </a:solidFill>
                      <a:prstDash val="solid"/>
                      <a:round/>
                      <a:headEnd type="none" w="med" len="med"/>
                      <a:tailEnd type="none" w="med" len="med"/>
                    </a:lnL>
                    <a:lnR w="12700" cap="flat" cmpd="sng" algn="ctr">
                      <a:solidFill>
                        <a:srgbClr val="D5DCE1"/>
                      </a:solidFill>
                      <a:prstDash val="solid"/>
                      <a:round/>
                      <a:headEnd type="none" w="med" len="med"/>
                      <a:tailEnd type="none" w="med" len="med"/>
                    </a:lnR>
                    <a:lnT w="12700" cap="flat" cmpd="sng" algn="ctr">
                      <a:solidFill>
                        <a:srgbClr val="D5DCE1"/>
                      </a:solidFill>
                      <a:prstDash val="solid"/>
                      <a:round/>
                      <a:headEnd type="none" w="med" len="med"/>
                      <a:tailEnd type="none" w="med" len="med"/>
                    </a:lnT>
                    <a:lnB w="12700" cap="flat" cmpd="sng" algn="ctr">
                      <a:solidFill>
                        <a:srgbClr val="D5DCE1"/>
                      </a:solidFill>
                      <a:prstDash val="solid"/>
                      <a:round/>
                      <a:headEnd type="none" w="med" len="med"/>
                      <a:tailEnd type="none" w="med" len="med"/>
                    </a:lnB>
                  </a:tcPr>
                </a:tc>
                <a:extLst>
                  <a:ext uri="{0D108BD9-81ED-4DB2-BD59-A6C34878D82A}">
                    <a16:rowId xmlns:a16="http://schemas.microsoft.com/office/drawing/2014/main" val="10001"/>
                  </a:ext>
                </a:extLst>
              </a:tr>
              <a:tr h="530352">
                <a:tc>
                  <a:txBody>
                    <a:bodyPr/>
                    <a:lstStyle/>
                    <a:p>
                      <a:pPr marL="0" indent="0">
                        <a:buNone/>
                      </a:pPr>
                      <a:r>
                        <a:rPr lang="en-US" sz="1400" dirty="0">
                          <a:solidFill>
                            <a:srgbClr val="1B2430"/>
                          </a:solidFill>
                          <a:latin typeface="Calibri" pitchFamily="34" charset="0"/>
                          <a:ea typeface="Calibri" pitchFamily="34" charset="-122"/>
                          <a:cs typeface="Calibri" pitchFamily="34" charset="-120"/>
                        </a:rPr>
                        <a:t>Vague questions</a:t>
                      </a:r>
                      <a:endParaRPr lang="en-US" sz="1400" dirty="0">
                        <a:latin typeface="Calibri" charset="0"/>
                        <a:ea typeface="Calibri" charset="0"/>
                        <a:cs typeface="Calibri" charset="0"/>
                      </a:endParaRPr>
                    </a:p>
                  </a:txBody>
                  <a:tcPr marT="36576" marB="36576" anchor="ctr">
                    <a:lnL w="12700" cap="flat" cmpd="sng" algn="ctr">
                      <a:solidFill>
                        <a:srgbClr val="D5DCE1"/>
                      </a:solidFill>
                      <a:prstDash val="solid"/>
                      <a:round/>
                      <a:headEnd type="none" w="med" len="med"/>
                      <a:tailEnd type="none" w="med" len="med"/>
                    </a:lnL>
                    <a:lnR w="12700" cap="flat" cmpd="sng" algn="ctr">
                      <a:solidFill>
                        <a:srgbClr val="D5DCE1"/>
                      </a:solidFill>
                      <a:prstDash val="solid"/>
                      <a:round/>
                      <a:headEnd type="none" w="med" len="med"/>
                      <a:tailEnd type="none" w="med" len="med"/>
                    </a:lnR>
                    <a:lnT w="12700" cap="flat" cmpd="sng" algn="ctr">
                      <a:solidFill>
                        <a:srgbClr val="D5DCE1"/>
                      </a:solidFill>
                      <a:prstDash val="solid"/>
                      <a:round/>
                      <a:headEnd type="none" w="med" len="med"/>
                      <a:tailEnd type="none" w="med" len="med"/>
                    </a:lnT>
                    <a:lnB w="12700" cap="flat" cmpd="sng" algn="ctr">
                      <a:solidFill>
                        <a:srgbClr val="D5DCE1"/>
                      </a:solidFill>
                      <a:prstDash val="solid"/>
                      <a:round/>
                      <a:headEnd type="none" w="med" len="med"/>
                      <a:tailEnd type="none" w="med" len="med"/>
                    </a:lnB>
                  </a:tcPr>
                </a:tc>
                <a:tc>
                  <a:txBody>
                    <a:bodyPr/>
                    <a:lstStyle/>
                    <a:p>
                      <a:pPr marL="0" indent="0">
                        <a:buNone/>
                      </a:pPr>
                      <a:r>
                        <a:rPr lang="en-US" sz="1400" dirty="0">
                          <a:solidFill>
                            <a:srgbClr val="1B2430"/>
                          </a:solidFill>
                          <a:latin typeface="Calibri" pitchFamily="34" charset="0"/>
                          <a:ea typeface="Calibri" pitchFamily="34" charset="-122"/>
                          <a:cs typeface="Calibri" pitchFamily="34" charset="-120"/>
                        </a:rPr>
                        <a:t>Limited; may guess scope</a:t>
                      </a:r>
                      <a:endParaRPr lang="en-US" sz="1400" dirty="0">
                        <a:latin typeface="Calibri" charset="0"/>
                        <a:ea typeface="Calibri" charset="0"/>
                        <a:cs typeface="Calibri" charset="0"/>
                      </a:endParaRPr>
                    </a:p>
                  </a:txBody>
                  <a:tcPr marT="36576" marB="36576" anchor="ctr">
                    <a:lnL w="12700" cap="flat" cmpd="sng" algn="ctr">
                      <a:solidFill>
                        <a:srgbClr val="D5DCE1"/>
                      </a:solidFill>
                      <a:prstDash val="solid"/>
                      <a:round/>
                      <a:headEnd type="none" w="med" len="med"/>
                      <a:tailEnd type="none" w="med" len="med"/>
                    </a:lnL>
                    <a:lnR w="12700" cap="flat" cmpd="sng" algn="ctr">
                      <a:solidFill>
                        <a:srgbClr val="D5DCE1"/>
                      </a:solidFill>
                      <a:prstDash val="solid"/>
                      <a:round/>
                      <a:headEnd type="none" w="med" len="med"/>
                      <a:tailEnd type="none" w="med" len="med"/>
                    </a:lnR>
                    <a:lnT w="12700" cap="flat" cmpd="sng" algn="ctr">
                      <a:solidFill>
                        <a:srgbClr val="D5DCE1"/>
                      </a:solidFill>
                      <a:prstDash val="solid"/>
                      <a:round/>
                      <a:headEnd type="none" w="med" len="med"/>
                      <a:tailEnd type="none" w="med" len="med"/>
                    </a:lnT>
                    <a:lnB w="12700" cap="flat" cmpd="sng" algn="ctr">
                      <a:solidFill>
                        <a:srgbClr val="D5DCE1"/>
                      </a:solidFill>
                      <a:prstDash val="solid"/>
                      <a:round/>
                      <a:headEnd type="none" w="med" len="med"/>
                      <a:tailEnd type="none" w="med" len="med"/>
                    </a:lnB>
                  </a:tcPr>
                </a:tc>
                <a:tc>
                  <a:txBody>
                    <a:bodyPr/>
                    <a:lstStyle/>
                    <a:p>
                      <a:pPr marL="0" indent="0">
                        <a:buNone/>
                      </a:pPr>
                      <a:r>
                        <a:rPr lang="en-US" sz="1400" dirty="0">
                          <a:solidFill>
                            <a:srgbClr val="1B2430"/>
                          </a:solidFill>
                          <a:latin typeface="Calibri" pitchFamily="34" charset="0"/>
                          <a:ea typeface="Calibri" pitchFamily="34" charset="-122"/>
                          <a:cs typeface="Calibri" pitchFamily="34" charset="-120"/>
                        </a:rPr>
                        <a:t>Better; asks to clarify</a:t>
                      </a:r>
                      <a:endParaRPr lang="en-US" sz="1400" dirty="0">
                        <a:latin typeface="Calibri" charset="0"/>
                        <a:ea typeface="Calibri" charset="0"/>
                        <a:cs typeface="Calibri" charset="0"/>
                      </a:endParaRPr>
                    </a:p>
                  </a:txBody>
                  <a:tcPr marT="36576" marB="36576" anchor="ctr">
                    <a:lnL w="12700" cap="flat" cmpd="sng" algn="ctr">
                      <a:solidFill>
                        <a:srgbClr val="D5DCE1"/>
                      </a:solidFill>
                      <a:prstDash val="solid"/>
                      <a:round/>
                      <a:headEnd type="none" w="med" len="med"/>
                      <a:tailEnd type="none" w="med" len="med"/>
                    </a:lnL>
                    <a:lnR w="12700" cap="flat" cmpd="sng" algn="ctr">
                      <a:solidFill>
                        <a:srgbClr val="D5DCE1"/>
                      </a:solidFill>
                      <a:prstDash val="solid"/>
                      <a:round/>
                      <a:headEnd type="none" w="med" len="med"/>
                      <a:tailEnd type="none" w="med" len="med"/>
                    </a:lnR>
                    <a:lnT w="12700" cap="flat" cmpd="sng" algn="ctr">
                      <a:solidFill>
                        <a:srgbClr val="D5DCE1"/>
                      </a:solidFill>
                      <a:prstDash val="solid"/>
                      <a:round/>
                      <a:headEnd type="none" w="med" len="med"/>
                      <a:tailEnd type="none" w="med" len="med"/>
                    </a:lnT>
                    <a:lnB w="12700" cap="flat" cmpd="sng" algn="ctr">
                      <a:solidFill>
                        <a:srgbClr val="D5DCE1"/>
                      </a:solidFill>
                      <a:prstDash val="solid"/>
                      <a:round/>
                      <a:headEnd type="none" w="med" len="med"/>
                      <a:tailEnd type="none" w="med" len="med"/>
                    </a:lnB>
                  </a:tcPr>
                </a:tc>
                <a:extLst>
                  <a:ext uri="{0D108BD9-81ED-4DB2-BD59-A6C34878D82A}">
                    <a16:rowId xmlns:a16="http://schemas.microsoft.com/office/drawing/2014/main" val="10002"/>
                  </a:ext>
                </a:extLst>
              </a:tr>
              <a:tr h="530352">
                <a:tc>
                  <a:txBody>
                    <a:bodyPr/>
                    <a:lstStyle/>
                    <a:p>
                      <a:pPr marL="0" indent="0">
                        <a:buNone/>
                      </a:pPr>
                      <a:r>
                        <a:rPr lang="en-US" sz="1400" dirty="0">
                          <a:solidFill>
                            <a:srgbClr val="1B2430"/>
                          </a:solidFill>
                          <a:latin typeface="Calibri" pitchFamily="34" charset="0"/>
                          <a:ea typeface="Calibri" pitchFamily="34" charset="-122"/>
                          <a:cs typeface="Calibri" pitchFamily="34" charset="-120"/>
                        </a:rPr>
                        <a:t>Evidence</a:t>
                      </a:r>
                      <a:endParaRPr lang="en-US" sz="1400" dirty="0">
                        <a:latin typeface="Calibri" charset="0"/>
                        <a:ea typeface="Calibri" charset="0"/>
                        <a:cs typeface="Calibri" charset="0"/>
                      </a:endParaRPr>
                    </a:p>
                  </a:txBody>
                  <a:tcPr marT="36576" marB="36576" anchor="ctr">
                    <a:lnL w="12700" cap="flat" cmpd="sng" algn="ctr">
                      <a:solidFill>
                        <a:srgbClr val="D5DCE1"/>
                      </a:solidFill>
                      <a:prstDash val="solid"/>
                      <a:round/>
                      <a:headEnd type="none" w="med" len="med"/>
                      <a:tailEnd type="none" w="med" len="med"/>
                    </a:lnL>
                    <a:lnR w="12700" cap="flat" cmpd="sng" algn="ctr">
                      <a:solidFill>
                        <a:srgbClr val="D5DCE1"/>
                      </a:solidFill>
                      <a:prstDash val="solid"/>
                      <a:round/>
                      <a:headEnd type="none" w="med" len="med"/>
                      <a:tailEnd type="none" w="med" len="med"/>
                    </a:lnR>
                    <a:lnT w="12700" cap="flat" cmpd="sng" algn="ctr">
                      <a:solidFill>
                        <a:srgbClr val="D5DCE1"/>
                      </a:solidFill>
                      <a:prstDash val="solid"/>
                      <a:round/>
                      <a:headEnd type="none" w="med" len="med"/>
                      <a:tailEnd type="none" w="med" len="med"/>
                    </a:lnT>
                    <a:lnB w="12700" cap="flat" cmpd="sng" algn="ctr">
                      <a:solidFill>
                        <a:srgbClr val="D5DCE1"/>
                      </a:solidFill>
                      <a:prstDash val="solid"/>
                      <a:round/>
                      <a:headEnd type="none" w="med" len="med"/>
                      <a:tailEnd type="none" w="med" len="med"/>
                    </a:lnB>
                  </a:tcPr>
                </a:tc>
                <a:tc>
                  <a:txBody>
                    <a:bodyPr/>
                    <a:lstStyle/>
                    <a:p>
                      <a:pPr marL="0" indent="0">
                        <a:buNone/>
                      </a:pPr>
                      <a:r>
                        <a:rPr lang="en-US" sz="1400" dirty="0">
                          <a:solidFill>
                            <a:srgbClr val="1B2430"/>
                          </a:solidFill>
                          <a:latin typeface="Calibri" pitchFamily="34" charset="0"/>
                          <a:ea typeface="Calibri" pitchFamily="34" charset="-122"/>
                          <a:cs typeface="Calibri" pitchFamily="34" charset="-120"/>
                        </a:rPr>
                        <a:t>Added to the answer</a:t>
                      </a:r>
                      <a:endParaRPr lang="en-US" sz="1400" dirty="0">
                        <a:latin typeface="Calibri" charset="0"/>
                        <a:ea typeface="Calibri" charset="0"/>
                        <a:cs typeface="Calibri" charset="0"/>
                      </a:endParaRPr>
                    </a:p>
                  </a:txBody>
                  <a:tcPr marT="36576" marB="36576" anchor="ctr">
                    <a:lnL w="12700" cap="flat" cmpd="sng" algn="ctr">
                      <a:solidFill>
                        <a:srgbClr val="D5DCE1"/>
                      </a:solidFill>
                      <a:prstDash val="solid"/>
                      <a:round/>
                      <a:headEnd type="none" w="med" len="med"/>
                      <a:tailEnd type="none" w="med" len="med"/>
                    </a:lnL>
                    <a:lnR w="12700" cap="flat" cmpd="sng" algn="ctr">
                      <a:solidFill>
                        <a:srgbClr val="D5DCE1"/>
                      </a:solidFill>
                      <a:prstDash val="solid"/>
                      <a:round/>
                      <a:headEnd type="none" w="med" len="med"/>
                      <a:tailEnd type="none" w="med" len="med"/>
                    </a:lnR>
                    <a:lnT w="12700" cap="flat" cmpd="sng" algn="ctr">
                      <a:solidFill>
                        <a:srgbClr val="D5DCE1"/>
                      </a:solidFill>
                      <a:prstDash val="solid"/>
                      <a:round/>
                      <a:headEnd type="none" w="med" len="med"/>
                      <a:tailEnd type="none" w="med" len="med"/>
                    </a:lnT>
                    <a:lnB w="12700" cap="flat" cmpd="sng" algn="ctr">
                      <a:solidFill>
                        <a:srgbClr val="D5DCE1"/>
                      </a:solidFill>
                      <a:prstDash val="solid"/>
                      <a:round/>
                      <a:headEnd type="none" w="med" len="med"/>
                      <a:tailEnd type="none" w="med" len="med"/>
                    </a:lnB>
                  </a:tcPr>
                </a:tc>
                <a:tc>
                  <a:txBody>
                    <a:bodyPr/>
                    <a:lstStyle/>
                    <a:p>
                      <a:pPr marL="0" indent="0">
                        <a:buNone/>
                      </a:pPr>
                      <a:r>
                        <a:rPr lang="en-US" sz="1400" dirty="0">
                          <a:solidFill>
                            <a:srgbClr val="1B2430"/>
                          </a:solidFill>
                          <a:latin typeface="Calibri" pitchFamily="34" charset="0"/>
                          <a:ea typeface="Calibri" pitchFamily="34" charset="-122"/>
                          <a:cs typeface="Calibri" pitchFamily="34" charset="-120"/>
                        </a:rPr>
                        <a:t>Core part of the flow</a:t>
                      </a:r>
                      <a:endParaRPr lang="en-US" sz="1400" dirty="0">
                        <a:latin typeface="Calibri" charset="0"/>
                        <a:ea typeface="Calibri" charset="0"/>
                        <a:cs typeface="Calibri" charset="0"/>
                      </a:endParaRPr>
                    </a:p>
                  </a:txBody>
                  <a:tcPr marT="36576" marB="36576" anchor="ctr">
                    <a:lnL w="12700" cap="flat" cmpd="sng" algn="ctr">
                      <a:solidFill>
                        <a:srgbClr val="D5DCE1"/>
                      </a:solidFill>
                      <a:prstDash val="solid"/>
                      <a:round/>
                      <a:headEnd type="none" w="med" len="med"/>
                      <a:tailEnd type="none" w="med" len="med"/>
                    </a:lnL>
                    <a:lnR w="12700" cap="flat" cmpd="sng" algn="ctr">
                      <a:solidFill>
                        <a:srgbClr val="D5DCE1"/>
                      </a:solidFill>
                      <a:prstDash val="solid"/>
                      <a:round/>
                      <a:headEnd type="none" w="med" len="med"/>
                      <a:tailEnd type="none" w="med" len="med"/>
                    </a:lnR>
                    <a:lnT w="12700" cap="flat" cmpd="sng" algn="ctr">
                      <a:solidFill>
                        <a:srgbClr val="D5DCE1"/>
                      </a:solidFill>
                      <a:prstDash val="solid"/>
                      <a:round/>
                      <a:headEnd type="none" w="med" len="med"/>
                      <a:tailEnd type="none" w="med" len="med"/>
                    </a:lnT>
                    <a:lnB w="12700" cap="flat" cmpd="sng" algn="ctr">
                      <a:solidFill>
                        <a:srgbClr val="D5DCE1"/>
                      </a:solidFill>
                      <a:prstDash val="solid"/>
                      <a:round/>
                      <a:headEnd type="none" w="med" len="med"/>
                      <a:tailEnd type="none" w="med" len="med"/>
                    </a:lnB>
                  </a:tcPr>
                </a:tc>
                <a:extLst>
                  <a:ext uri="{0D108BD9-81ED-4DB2-BD59-A6C34878D82A}">
                    <a16:rowId xmlns:a16="http://schemas.microsoft.com/office/drawing/2014/main" val="10003"/>
                  </a:ext>
                </a:extLst>
              </a:tr>
              <a:tr h="530352">
                <a:tc>
                  <a:txBody>
                    <a:bodyPr/>
                    <a:lstStyle/>
                    <a:p>
                      <a:pPr marL="0" indent="0">
                        <a:buNone/>
                      </a:pPr>
                      <a:r>
                        <a:rPr lang="en-US" sz="1400" dirty="0">
                          <a:solidFill>
                            <a:srgbClr val="1B2430"/>
                          </a:solidFill>
                          <a:latin typeface="Calibri" pitchFamily="34" charset="0"/>
                          <a:ea typeface="Calibri" pitchFamily="34" charset="-122"/>
                          <a:cs typeface="Calibri" pitchFamily="34" charset="-120"/>
                        </a:rPr>
                        <a:t>Uncertainty</a:t>
                      </a:r>
                      <a:endParaRPr lang="en-US" sz="1400" dirty="0">
                        <a:latin typeface="Calibri" charset="0"/>
                        <a:ea typeface="Calibri" charset="0"/>
                        <a:cs typeface="Calibri" charset="0"/>
                      </a:endParaRPr>
                    </a:p>
                  </a:txBody>
                  <a:tcPr marT="36576" marB="36576" anchor="ctr">
                    <a:lnL w="12700" cap="flat" cmpd="sng" algn="ctr">
                      <a:solidFill>
                        <a:srgbClr val="D5DCE1"/>
                      </a:solidFill>
                      <a:prstDash val="solid"/>
                      <a:round/>
                      <a:headEnd type="none" w="med" len="med"/>
                      <a:tailEnd type="none" w="med" len="med"/>
                    </a:lnL>
                    <a:lnR w="12700" cap="flat" cmpd="sng" algn="ctr">
                      <a:solidFill>
                        <a:srgbClr val="D5DCE1"/>
                      </a:solidFill>
                      <a:prstDash val="solid"/>
                      <a:round/>
                      <a:headEnd type="none" w="med" len="med"/>
                      <a:tailEnd type="none" w="med" len="med"/>
                    </a:lnR>
                    <a:lnT w="12700" cap="flat" cmpd="sng" algn="ctr">
                      <a:solidFill>
                        <a:srgbClr val="D5DCE1"/>
                      </a:solidFill>
                      <a:prstDash val="solid"/>
                      <a:round/>
                      <a:headEnd type="none" w="med" len="med"/>
                      <a:tailEnd type="none" w="med" len="med"/>
                    </a:lnT>
                    <a:lnB w="12700" cap="flat" cmpd="sng" algn="ctr">
                      <a:solidFill>
                        <a:srgbClr val="D5DCE1"/>
                      </a:solidFill>
                      <a:prstDash val="solid"/>
                      <a:round/>
                      <a:headEnd type="none" w="med" len="med"/>
                      <a:tailEnd type="none" w="med" len="med"/>
                    </a:lnB>
                  </a:tcPr>
                </a:tc>
                <a:tc>
                  <a:txBody>
                    <a:bodyPr/>
                    <a:lstStyle/>
                    <a:p>
                      <a:pPr marL="0" indent="0">
                        <a:buNone/>
                      </a:pPr>
                      <a:r>
                        <a:rPr lang="en-US" sz="1400" dirty="0">
                          <a:solidFill>
                            <a:srgbClr val="1B2430"/>
                          </a:solidFill>
                          <a:latin typeface="Calibri" pitchFamily="34" charset="0"/>
                          <a:ea typeface="Calibri" pitchFamily="34" charset="-122"/>
                          <a:cs typeface="Calibri" pitchFamily="34" charset="-120"/>
                        </a:rPr>
                        <a:t>Weak unless prompted</a:t>
                      </a:r>
                      <a:endParaRPr lang="en-US" sz="1400" dirty="0">
                        <a:latin typeface="Calibri" charset="0"/>
                        <a:ea typeface="Calibri" charset="0"/>
                        <a:cs typeface="Calibri" charset="0"/>
                      </a:endParaRPr>
                    </a:p>
                  </a:txBody>
                  <a:tcPr marT="36576" marB="36576" anchor="ctr">
                    <a:lnL w="12700" cap="flat" cmpd="sng" algn="ctr">
                      <a:solidFill>
                        <a:srgbClr val="D5DCE1"/>
                      </a:solidFill>
                      <a:prstDash val="solid"/>
                      <a:round/>
                      <a:headEnd type="none" w="med" len="med"/>
                      <a:tailEnd type="none" w="med" len="med"/>
                    </a:lnL>
                    <a:lnR w="12700" cap="flat" cmpd="sng" algn="ctr">
                      <a:solidFill>
                        <a:srgbClr val="D5DCE1"/>
                      </a:solidFill>
                      <a:prstDash val="solid"/>
                      <a:round/>
                      <a:headEnd type="none" w="med" len="med"/>
                      <a:tailEnd type="none" w="med" len="med"/>
                    </a:lnR>
                    <a:lnT w="12700" cap="flat" cmpd="sng" algn="ctr">
                      <a:solidFill>
                        <a:srgbClr val="D5DCE1"/>
                      </a:solidFill>
                      <a:prstDash val="solid"/>
                      <a:round/>
                      <a:headEnd type="none" w="med" len="med"/>
                      <a:tailEnd type="none" w="med" len="med"/>
                    </a:lnT>
                    <a:lnB w="12700" cap="flat" cmpd="sng" algn="ctr">
                      <a:solidFill>
                        <a:srgbClr val="D5DCE1"/>
                      </a:solidFill>
                      <a:prstDash val="solid"/>
                      <a:round/>
                      <a:headEnd type="none" w="med" len="med"/>
                      <a:tailEnd type="none" w="med" len="med"/>
                    </a:lnB>
                  </a:tcPr>
                </a:tc>
                <a:tc>
                  <a:txBody>
                    <a:bodyPr/>
                    <a:lstStyle/>
                    <a:p>
                      <a:pPr marL="0" indent="0">
                        <a:buNone/>
                      </a:pPr>
                      <a:r>
                        <a:rPr lang="en-US" sz="1400" dirty="0">
                          <a:solidFill>
                            <a:srgbClr val="1B2430"/>
                          </a:solidFill>
                          <a:latin typeface="Calibri" pitchFamily="34" charset="0"/>
                          <a:ea typeface="Calibri" pitchFamily="34" charset="-122"/>
                          <a:cs typeface="Calibri" pitchFamily="34" charset="-120"/>
                        </a:rPr>
                        <a:t>Explicit: fact, hypothesis, missing</a:t>
                      </a:r>
                      <a:endParaRPr lang="en-US" sz="1400" dirty="0">
                        <a:latin typeface="Calibri" charset="0"/>
                        <a:ea typeface="Calibri" charset="0"/>
                        <a:cs typeface="Calibri" charset="0"/>
                      </a:endParaRPr>
                    </a:p>
                  </a:txBody>
                  <a:tcPr marT="36576" marB="36576" anchor="ctr">
                    <a:lnL w="12700" cap="flat" cmpd="sng" algn="ctr">
                      <a:solidFill>
                        <a:srgbClr val="D5DCE1"/>
                      </a:solidFill>
                      <a:prstDash val="solid"/>
                      <a:round/>
                      <a:headEnd type="none" w="med" len="med"/>
                      <a:tailEnd type="none" w="med" len="med"/>
                    </a:lnL>
                    <a:lnR w="12700" cap="flat" cmpd="sng" algn="ctr">
                      <a:solidFill>
                        <a:srgbClr val="D5DCE1"/>
                      </a:solidFill>
                      <a:prstDash val="solid"/>
                      <a:round/>
                      <a:headEnd type="none" w="med" len="med"/>
                      <a:tailEnd type="none" w="med" len="med"/>
                    </a:lnR>
                    <a:lnT w="12700" cap="flat" cmpd="sng" algn="ctr">
                      <a:solidFill>
                        <a:srgbClr val="D5DCE1"/>
                      </a:solidFill>
                      <a:prstDash val="solid"/>
                      <a:round/>
                      <a:headEnd type="none" w="med" len="med"/>
                      <a:tailEnd type="none" w="med" len="med"/>
                    </a:lnT>
                    <a:lnB w="12700" cap="flat" cmpd="sng" algn="ctr">
                      <a:solidFill>
                        <a:srgbClr val="D5DCE1"/>
                      </a:solidFill>
                      <a:prstDash val="solid"/>
                      <a:round/>
                      <a:headEnd type="none" w="med" len="med"/>
                      <a:tailEnd type="none" w="med" len="med"/>
                    </a:lnB>
                  </a:tcPr>
                </a:tc>
                <a:extLst>
                  <a:ext uri="{0D108BD9-81ED-4DB2-BD59-A6C34878D82A}">
                    <a16:rowId xmlns:a16="http://schemas.microsoft.com/office/drawing/2014/main" val="10004"/>
                  </a:ext>
                </a:extLst>
              </a:tr>
              <a:tr h="530352">
                <a:tc>
                  <a:txBody>
                    <a:bodyPr/>
                    <a:lstStyle/>
                    <a:p>
                      <a:pPr marL="0" indent="0">
                        <a:buNone/>
                      </a:pPr>
                      <a:r>
                        <a:rPr lang="en-US" sz="1400" dirty="0">
                          <a:solidFill>
                            <a:srgbClr val="1B2430"/>
                          </a:solidFill>
                          <a:latin typeface="Calibri" pitchFamily="34" charset="0"/>
                          <a:ea typeface="Calibri" pitchFamily="34" charset="-122"/>
                          <a:cs typeface="Calibri" pitchFamily="34" charset="-120"/>
                        </a:rPr>
                        <a:t>Main weakness</a:t>
                      </a:r>
                      <a:endParaRPr lang="en-US" sz="1400" dirty="0">
                        <a:latin typeface="Calibri" charset="0"/>
                        <a:ea typeface="Calibri" charset="0"/>
                        <a:cs typeface="Calibri" charset="0"/>
                      </a:endParaRPr>
                    </a:p>
                  </a:txBody>
                  <a:tcPr marT="36576" marB="36576" anchor="ctr">
                    <a:lnL w="12700" cap="flat" cmpd="sng" algn="ctr">
                      <a:solidFill>
                        <a:srgbClr val="D5DCE1"/>
                      </a:solidFill>
                      <a:prstDash val="solid"/>
                      <a:round/>
                      <a:headEnd type="none" w="med" len="med"/>
                      <a:tailEnd type="none" w="med" len="med"/>
                    </a:lnL>
                    <a:lnR w="12700" cap="flat" cmpd="sng" algn="ctr">
                      <a:solidFill>
                        <a:srgbClr val="D5DCE1"/>
                      </a:solidFill>
                      <a:prstDash val="solid"/>
                      <a:round/>
                      <a:headEnd type="none" w="med" len="med"/>
                      <a:tailEnd type="none" w="med" len="med"/>
                    </a:lnR>
                    <a:lnT w="12700" cap="flat" cmpd="sng" algn="ctr">
                      <a:solidFill>
                        <a:srgbClr val="D5DCE1"/>
                      </a:solidFill>
                      <a:prstDash val="solid"/>
                      <a:round/>
                      <a:headEnd type="none" w="med" len="med"/>
                      <a:tailEnd type="none" w="med" len="med"/>
                    </a:lnT>
                    <a:lnB w="12700" cap="flat" cmpd="sng" algn="ctr">
                      <a:solidFill>
                        <a:srgbClr val="D5DCE1"/>
                      </a:solidFill>
                      <a:prstDash val="solid"/>
                      <a:round/>
                      <a:headEnd type="none" w="med" len="med"/>
                      <a:tailEnd type="none" w="med" len="med"/>
                    </a:lnB>
                  </a:tcPr>
                </a:tc>
                <a:tc>
                  <a:txBody>
                    <a:bodyPr/>
                    <a:lstStyle/>
                    <a:p>
                      <a:pPr marL="0" indent="0">
                        <a:buNone/>
                      </a:pPr>
                      <a:r>
                        <a:rPr lang="en-US" sz="1400" dirty="0">
                          <a:solidFill>
                            <a:srgbClr val="1B2430"/>
                          </a:solidFill>
                          <a:latin typeface="Calibri" pitchFamily="34" charset="0"/>
                          <a:ea typeface="Calibri" pitchFamily="34" charset="-122"/>
                          <a:cs typeface="Calibri" pitchFamily="34" charset="-120"/>
                        </a:rPr>
                        <a:t>Confident but possibly incomplete</a:t>
                      </a:r>
                      <a:endParaRPr lang="en-US" sz="1400" dirty="0">
                        <a:latin typeface="Calibri" charset="0"/>
                        <a:ea typeface="Calibri" charset="0"/>
                        <a:cs typeface="Calibri" charset="0"/>
                      </a:endParaRPr>
                    </a:p>
                  </a:txBody>
                  <a:tcPr marT="36576" marB="36576" anchor="ctr">
                    <a:lnL w="12700" cap="flat" cmpd="sng" algn="ctr">
                      <a:solidFill>
                        <a:srgbClr val="D5DCE1"/>
                      </a:solidFill>
                      <a:prstDash val="solid"/>
                      <a:round/>
                      <a:headEnd type="none" w="med" len="med"/>
                      <a:tailEnd type="none" w="med" len="med"/>
                    </a:lnL>
                    <a:lnR w="12700" cap="flat" cmpd="sng" algn="ctr">
                      <a:solidFill>
                        <a:srgbClr val="D5DCE1"/>
                      </a:solidFill>
                      <a:prstDash val="solid"/>
                      <a:round/>
                      <a:headEnd type="none" w="med" len="med"/>
                      <a:tailEnd type="none" w="med" len="med"/>
                    </a:lnR>
                    <a:lnT w="12700" cap="flat" cmpd="sng" algn="ctr">
                      <a:solidFill>
                        <a:srgbClr val="D5DCE1"/>
                      </a:solidFill>
                      <a:prstDash val="solid"/>
                      <a:round/>
                      <a:headEnd type="none" w="med" len="med"/>
                      <a:tailEnd type="none" w="med" len="med"/>
                    </a:lnT>
                    <a:lnB w="12700" cap="flat" cmpd="sng" algn="ctr">
                      <a:solidFill>
                        <a:srgbClr val="D5DCE1"/>
                      </a:solidFill>
                      <a:prstDash val="solid"/>
                      <a:round/>
                      <a:headEnd type="none" w="med" len="med"/>
                      <a:tailEnd type="none" w="med" len="med"/>
                    </a:lnB>
                  </a:tcPr>
                </a:tc>
                <a:tc>
                  <a:txBody>
                    <a:bodyPr/>
                    <a:lstStyle/>
                    <a:p>
                      <a:pPr marL="0" indent="0">
                        <a:buNone/>
                      </a:pPr>
                      <a:r>
                        <a:rPr lang="en-US" sz="1400" dirty="0">
                          <a:solidFill>
                            <a:srgbClr val="1B2430"/>
                          </a:solidFill>
                          <a:latin typeface="Calibri" pitchFamily="34" charset="0"/>
                          <a:ea typeface="Calibri" pitchFamily="34" charset="-122"/>
                          <a:cs typeface="Calibri" pitchFamily="34" charset="-120"/>
                        </a:rPr>
                        <a:t>Slower; more questions</a:t>
                      </a:r>
                      <a:endParaRPr lang="en-US" sz="1400" dirty="0">
                        <a:latin typeface="Calibri" charset="0"/>
                        <a:ea typeface="Calibri" charset="0"/>
                        <a:cs typeface="Calibri" charset="0"/>
                      </a:endParaRPr>
                    </a:p>
                  </a:txBody>
                  <a:tcPr marT="36576" marB="36576" anchor="ctr">
                    <a:lnL w="12700" cap="flat" cmpd="sng" algn="ctr">
                      <a:solidFill>
                        <a:srgbClr val="D5DCE1"/>
                      </a:solidFill>
                      <a:prstDash val="solid"/>
                      <a:round/>
                      <a:headEnd type="none" w="med" len="med"/>
                      <a:tailEnd type="none" w="med" len="med"/>
                    </a:lnL>
                    <a:lnR w="12700" cap="flat" cmpd="sng" algn="ctr">
                      <a:solidFill>
                        <a:srgbClr val="D5DCE1"/>
                      </a:solidFill>
                      <a:prstDash val="solid"/>
                      <a:round/>
                      <a:headEnd type="none" w="med" len="med"/>
                      <a:tailEnd type="none" w="med" len="med"/>
                    </a:lnR>
                    <a:lnT w="12700" cap="flat" cmpd="sng" algn="ctr">
                      <a:solidFill>
                        <a:srgbClr val="D5DCE1"/>
                      </a:solidFill>
                      <a:prstDash val="solid"/>
                      <a:round/>
                      <a:headEnd type="none" w="med" len="med"/>
                      <a:tailEnd type="none" w="med" len="med"/>
                    </a:lnT>
                    <a:lnB w="12700" cap="flat" cmpd="sng" algn="ctr">
                      <a:solidFill>
                        <a:srgbClr val="D5DCE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marL="0" indent="0">
              <a:buNone/>
            </a:pPr>
            <a:r>
              <a:rPr lang="en-US" sz="3200" b="1" dirty="0">
                <a:solidFill>
                  <a:srgbClr val="0F2A33"/>
                </a:solidFill>
                <a:latin typeface="Cambria" pitchFamily="34" charset="0"/>
                <a:ea typeface="Cambria" pitchFamily="34" charset="-122"/>
                <a:cs typeface="Cambria" pitchFamily="34" charset="-120"/>
              </a:rPr>
              <a:t>Our choice</a:t>
            </a:r>
            <a:endParaRPr lang="en-US" sz="3200" dirty="0"/>
          </a:p>
        </p:txBody>
      </p:sp>
      <p:sp>
        <p:nvSpPr>
          <p:cNvPr id="3" name="Shape 1"/>
          <p:cNvSpPr/>
          <p:nvPr/>
        </p:nvSpPr>
        <p:spPr>
          <a:xfrm>
            <a:off x="457200" y="1280160"/>
            <a:ext cx="3291840" cy="3291840"/>
          </a:xfrm>
          <a:prstGeom prst="roundRect">
            <a:avLst>
              <a:gd name="adj" fmla="val 3333"/>
            </a:avLst>
          </a:prstGeom>
          <a:solidFill>
            <a:srgbClr val="0F2A33"/>
          </a:solidFill>
          <a:ln w="12700">
            <a:solidFill>
              <a:srgbClr val="0F2A33"/>
            </a:solidFill>
            <a:prstDash val="solid"/>
          </a:ln>
        </p:spPr>
        <p:txBody>
          <a:bodyPr/>
          <a:lstStyle/>
          <a:p>
            <a:endParaRPr lang="en-US"/>
          </a:p>
        </p:txBody>
      </p:sp>
      <p:sp>
        <p:nvSpPr>
          <p:cNvPr id="4" name="Text 2"/>
          <p:cNvSpPr txBox="1"/>
          <p:nvPr/>
        </p:nvSpPr>
        <p:spPr>
          <a:xfrm>
            <a:off x="640080" y="1737360"/>
            <a:ext cx="2926080" cy="73152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Concept B</a:t>
            </a:r>
            <a:endParaRPr lang="en-US" sz="3600" dirty="0"/>
          </a:p>
        </p:txBody>
      </p:sp>
      <p:sp>
        <p:nvSpPr>
          <p:cNvPr id="5" name="Text 3"/>
          <p:cNvSpPr txBox="1"/>
          <p:nvPr/>
        </p:nvSpPr>
        <p:spPr>
          <a:xfrm>
            <a:off x="640080" y="2560320"/>
            <a:ext cx="2926080" cy="914400"/>
          </a:xfrm>
          <a:prstGeom prst="rect">
            <a:avLst/>
          </a:prstGeom>
          <a:noFill/>
          <a:ln/>
        </p:spPr>
        <p:txBody>
          <a:bodyPr wrap="square" lIns="0" tIns="0" rIns="0" bIns="0" rtlCol="0" anchor="t"/>
          <a:lstStyle/>
          <a:p>
            <a:pPr marL="0" indent="0">
              <a:buNone/>
            </a:pPr>
            <a:r>
              <a:rPr lang="en-US" sz="2000" dirty="0">
                <a:solidFill>
                  <a:srgbClr val="F2A33A"/>
                </a:solidFill>
                <a:latin typeface="Calibri" pitchFamily="34" charset="0"/>
                <a:ea typeface="Calibri" pitchFamily="34" charset="-122"/>
                <a:cs typeface="Calibri" pitchFamily="34" charset="-120"/>
              </a:rPr>
              <a:t>with the speed of Concept A</a:t>
            </a:r>
            <a:endParaRPr lang="en-US" sz="2000" dirty="0"/>
          </a:p>
        </p:txBody>
      </p:sp>
      <p:sp>
        <p:nvSpPr>
          <p:cNvPr id="6" name="Shape 4"/>
          <p:cNvSpPr/>
          <p:nvPr/>
        </p:nvSpPr>
        <p:spPr>
          <a:xfrm>
            <a:off x="4023360" y="1280160"/>
            <a:ext cx="4663440" cy="1005840"/>
          </a:xfrm>
          <a:prstGeom prst="roundRect">
            <a:avLst>
              <a:gd name="adj" fmla="val 10909"/>
            </a:avLst>
          </a:prstGeom>
          <a:solidFill>
            <a:srgbClr val="F1F5F6"/>
          </a:solidFill>
          <a:ln w="12700">
            <a:solidFill>
              <a:srgbClr val="F1F5F6"/>
            </a:solidFill>
            <a:prstDash val="solid"/>
          </a:ln>
        </p:spPr>
        <p:txBody>
          <a:bodyPr/>
          <a:lstStyle/>
          <a:p>
            <a:endParaRPr lang="en-US"/>
          </a:p>
        </p:txBody>
      </p:sp>
      <p:sp>
        <p:nvSpPr>
          <p:cNvPr id="7" name="Shape 5"/>
          <p:cNvSpPr/>
          <p:nvPr/>
        </p:nvSpPr>
        <p:spPr>
          <a:xfrm>
            <a:off x="4160520" y="1554480"/>
            <a:ext cx="457200" cy="457200"/>
          </a:xfrm>
          <a:prstGeom prst="ellipse">
            <a:avLst/>
          </a:prstGeom>
          <a:solidFill>
            <a:srgbClr val="0B6E6E"/>
          </a:solidFill>
          <a:ln w="12700">
            <a:solidFill>
              <a:srgbClr val="0B6E6E"/>
            </a:solidFill>
            <a:prstDash val="solid"/>
          </a:ln>
        </p:spPr>
        <p:txBody>
          <a:bodyPr/>
          <a:lstStyle/>
          <a:p>
            <a:endParaRPr lang="en-US"/>
          </a:p>
        </p:txBody>
      </p:sp>
      <p:sp>
        <p:nvSpPr>
          <p:cNvPr id="8" name="Text 6"/>
          <p:cNvSpPr txBox="1"/>
          <p:nvPr/>
        </p:nvSpPr>
        <p:spPr>
          <a:xfrm>
            <a:off x="4160520" y="15544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txBox="1"/>
          <p:nvPr/>
        </p:nvSpPr>
        <p:spPr>
          <a:xfrm>
            <a:off x="4800600" y="1325880"/>
            <a:ext cx="3749040" cy="914400"/>
          </a:xfrm>
          <a:prstGeom prst="rect">
            <a:avLst/>
          </a:prstGeom>
          <a:noFill/>
          <a:ln/>
        </p:spPr>
        <p:txBody>
          <a:bodyPr wrap="square" lIns="0" tIns="0" rIns="0" bIns="0" rtlCol="0" anchor="ctr"/>
          <a:lstStyle/>
          <a:p>
            <a:pPr marL="0" indent="0">
              <a:buNone/>
            </a:pPr>
            <a:r>
              <a:rPr lang="en-US" sz="1600" dirty="0">
                <a:solidFill>
                  <a:srgbClr val="1B2430"/>
                </a:solidFill>
                <a:latin typeface="Calibri" pitchFamily="34" charset="0"/>
                <a:ea typeface="Calibri" pitchFamily="34" charset="-122"/>
                <a:cs typeface="Calibri" pitchFamily="34" charset="-120"/>
              </a:rPr>
              <a:t>A fast but unsupported answer can lead to a wrong production decision.</a:t>
            </a:r>
            <a:endParaRPr lang="en-US" sz="1600" dirty="0"/>
          </a:p>
        </p:txBody>
      </p:sp>
      <p:sp>
        <p:nvSpPr>
          <p:cNvPr id="10" name="Shape 8"/>
          <p:cNvSpPr/>
          <p:nvPr/>
        </p:nvSpPr>
        <p:spPr>
          <a:xfrm>
            <a:off x="4023360" y="2423160"/>
            <a:ext cx="4663440" cy="1005840"/>
          </a:xfrm>
          <a:prstGeom prst="roundRect">
            <a:avLst>
              <a:gd name="adj" fmla="val 10909"/>
            </a:avLst>
          </a:prstGeom>
          <a:solidFill>
            <a:srgbClr val="F1F5F6"/>
          </a:solidFill>
          <a:ln w="12700">
            <a:solidFill>
              <a:srgbClr val="F1F5F6"/>
            </a:solidFill>
            <a:prstDash val="solid"/>
          </a:ln>
        </p:spPr>
        <p:txBody>
          <a:bodyPr/>
          <a:lstStyle/>
          <a:p>
            <a:endParaRPr lang="en-US"/>
          </a:p>
        </p:txBody>
      </p:sp>
      <p:sp>
        <p:nvSpPr>
          <p:cNvPr id="11" name="Shape 9"/>
          <p:cNvSpPr/>
          <p:nvPr/>
        </p:nvSpPr>
        <p:spPr>
          <a:xfrm>
            <a:off x="4160520" y="2697480"/>
            <a:ext cx="457200" cy="457200"/>
          </a:xfrm>
          <a:prstGeom prst="ellipse">
            <a:avLst/>
          </a:prstGeom>
          <a:solidFill>
            <a:srgbClr val="0B6E6E"/>
          </a:solidFill>
          <a:ln w="12700">
            <a:solidFill>
              <a:srgbClr val="0B6E6E"/>
            </a:solidFill>
            <a:prstDash val="solid"/>
          </a:ln>
        </p:spPr>
        <p:txBody>
          <a:bodyPr/>
          <a:lstStyle/>
          <a:p>
            <a:endParaRPr lang="en-US"/>
          </a:p>
        </p:txBody>
      </p:sp>
      <p:sp>
        <p:nvSpPr>
          <p:cNvPr id="12" name="Text 10"/>
          <p:cNvSpPr txBox="1"/>
          <p:nvPr/>
        </p:nvSpPr>
        <p:spPr>
          <a:xfrm>
            <a:off x="4160520" y="26974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4800600" y="2468880"/>
            <a:ext cx="3749040" cy="914400"/>
          </a:xfrm>
          <a:prstGeom prst="rect">
            <a:avLst/>
          </a:prstGeom>
          <a:noFill/>
          <a:ln/>
        </p:spPr>
        <p:txBody>
          <a:bodyPr wrap="square" lIns="0" tIns="0" rIns="0" bIns="0" rtlCol="0" anchor="ctr"/>
          <a:lstStyle/>
          <a:p>
            <a:pPr marL="0" indent="0">
              <a:buNone/>
            </a:pPr>
            <a:r>
              <a:rPr lang="en-US" sz="1600" dirty="0">
                <a:solidFill>
                  <a:srgbClr val="1B2430"/>
                </a:solidFill>
                <a:latin typeface="Calibri" pitchFamily="34" charset="0"/>
                <a:ea typeface="Calibri" pitchFamily="34" charset="-122"/>
                <a:cs typeface="Calibri" pitchFamily="34" charset="-120"/>
              </a:rPr>
              <a:t>Guided investigation separates evidence from hypotheses.</a:t>
            </a:r>
            <a:endParaRPr lang="en-US" sz="1600" dirty="0"/>
          </a:p>
        </p:txBody>
      </p:sp>
      <p:sp>
        <p:nvSpPr>
          <p:cNvPr id="14" name="Shape 12"/>
          <p:cNvSpPr/>
          <p:nvPr/>
        </p:nvSpPr>
        <p:spPr>
          <a:xfrm>
            <a:off x="4023360" y="3566160"/>
            <a:ext cx="4663440" cy="1005840"/>
          </a:xfrm>
          <a:prstGeom prst="roundRect">
            <a:avLst>
              <a:gd name="adj" fmla="val 10909"/>
            </a:avLst>
          </a:prstGeom>
          <a:solidFill>
            <a:srgbClr val="F1F5F6"/>
          </a:solidFill>
          <a:ln w="12700">
            <a:solidFill>
              <a:srgbClr val="F1F5F6"/>
            </a:solidFill>
            <a:prstDash val="solid"/>
          </a:ln>
        </p:spPr>
        <p:txBody>
          <a:bodyPr/>
          <a:lstStyle/>
          <a:p>
            <a:endParaRPr lang="en-US"/>
          </a:p>
        </p:txBody>
      </p:sp>
      <p:sp>
        <p:nvSpPr>
          <p:cNvPr id="15" name="Shape 13"/>
          <p:cNvSpPr/>
          <p:nvPr/>
        </p:nvSpPr>
        <p:spPr>
          <a:xfrm>
            <a:off x="4160520" y="3840480"/>
            <a:ext cx="457200" cy="457200"/>
          </a:xfrm>
          <a:prstGeom prst="ellipse">
            <a:avLst/>
          </a:prstGeom>
          <a:solidFill>
            <a:srgbClr val="0B6E6E"/>
          </a:solidFill>
          <a:ln w="12700">
            <a:solidFill>
              <a:srgbClr val="0B6E6E"/>
            </a:solidFill>
            <a:prstDash val="solid"/>
          </a:ln>
        </p:spPr>
        <p:txBody>
          <a:bodyPr/>
          <a:lstStyle/>
          <a:p>
            <a:endParaRPr lang="en-US"/>
          </a:p>
        </p:txBody>
      </p:sp>
      <p:sp>
        <p:nvSpPr>
          <p:cNvPr id="16" name="Text 14"/>
          <p:cNvSpPr txBox="1"/>
          <p:nvPr/>
        </p:nvSpPr>
        <p:spPr>
          <a:xfrm>
            <a:off x="4160520" y="38404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4800600" y="3611880"/>
            <a:ext cx="3749040" cy="914400"/>
          </a:xfrm>
          <a:prstGeom prst="rect">
            <a:avLst/>
          </a:prstGeom>
          <a:noFill/>
          <a:ln/>
        </p:spPr>
        <p:txBody>
          <a:bodyPr wrap="square" lIns="0" tIns="0" rIns="0" bIns="0" rtlCol="0" anchor="ctr"/>
          <a:lstStyle/>
          <a:p>
            <a:pPr marL="0" indent="0">
              <a:buNone/>
            </a:pPr>
            <a:r>
              <a:rPr lang="en-US" sz="1600" dirty="0">
                <a:solidFill>
                  <a:srgbClr val="1B2430"/>
                </a:solidFill>
                <a:latin typeface="Calibri" pitchFamily="34" charset="0"/>
                <a:ea typeface="Calibri" pitchFamily="34" charset="-122"/>
                <a:cs typeface="Calibri" pitchFamily="34" charset="-120"/>
              </a:rPr>
              <a:t>Clarification is asked only when the question is ambiguous, so simple questions stay fast.</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marL="0" indent="0">
              <a:buNone/>
            </a:pPr>
            <a:r>
              <a:rPr lang="en-US" sz="3200" b="1" dirty="0">
                <a:solidFill>
                  <a:srgbClr val="0F2A33"/>
                </a:solidFill>
                <a:latin typeface="Cambria" pitchFamily="34" charset="0"/>
                <a:ea typeface="Cambria" pitchFamily="34" charset="-122"/>
                <a:cs typeface="Cambria" pitchFamily="34" charset="-120"/>
              </a:rPr>
              <a:t>Log 01: Concept A</a:t>
            </a:r>
            <a:endParaRPr lang="en-US" sz="3200" dirty="0"/>
          </a:p>
        </p:txBody>
      </p:sp>
      <p:sp>
        <p:nvSpPr>
          <p:cNvPr id="3" name="Text 1"/>
          <p:cNvSpPr txBox="1"/>
          <p:nvPr/>
        </p:nvSpPr>
        <p:spPr>
          <a:xfrm>
            <a:off x="457200" y="1051560"/>
            <a:ext cx="8229600" cy="320040"/>
          </a:xfrm>
          <a:prstGeom prst="rect">
            <a:avLst/>
          </a:prstGeom>
          <a:noFill/>
          <a:ln/>
        </p:spPr>
        <p:txBody>
          <a:bodyPr wrap="square" lIns="0" tIns="0" rIns="0" bIns="0" rtlCol="0" anchor="ctr"/>
          <a:lstStyle/>
          <a:p>
            <a:pPr marL="0" indent="0">
              <a:buNone/>
            </a:pPr>
            <a:r>
              <a:rPr lang="en-US" sz="1400" b="1" dirty="0">
                <a:solidFill>
                  <a:srgbClr val="1B2430"/>
                </a:solidFill>
                <a:latin typeface="Calibri" pitchFamily="34" charset="0"/>
                <a:ea typeface="Calibri" pitchFamily="34" charset="-122"/>
                <a:cs typeface="Calibri" pitchFamily="34" charset="-120"/>
              </a:rPr>
              <a:t>Tool: </a:t>
            </a:r>
            <a:r>
              <a:rPr lang="en-US" sz="1400" dirty="0">
                <a:solidFill>
                  <a:srgbClr val="1B2430"/>
                </a:solidFill>
                <a:latin typeface="Calibri" pitchFamily="34" charset="0"/>
                <a:ea typeface="Calibri" pitchFamily="34" charset="-122"/>
                <a:cs typeface="Calibri" pitchFamily="34" charset="-120"/>
              </a:rPr>
              <a:t>ChatGPT</a:t>
            </a:r>
            <a:endParaRPr lang="en-US" sz="1400" dirty="0"/>
          </a:p>
        </p:txBody>
      </p:sp>
      <p:sp>
        <p:nvSpPr>
          <p:cNvPr id="4" name="Shape 2"/>
          <p:cNvSpPr/>
          <p:nvPr/>
        </p:nvSpPr>
        <p:spPr>
          <a:xfrm>
            <a:off x="457200" y="1463040"/>
            <a:ext cx="4023360" cy="3200400"/>
          </a:xfrm>
          <a:prstGeom prst="roundRect">
            <a:avLst>
              <a:gd name="adj" fmla="val 3429"/>
            </a:avLst>
          </a:prstGeom>
          <a:solidFill>
            <a:srgbClr val="F1F5F6"/>
          </a:solidFill>
          <a:ln w="12700">
            <a:solidFill>
              <a:srgbClr val="F1F5F6"/>
            </a:solidFill>
            <a:prstDash val="solid"/>
          </a:ln>
        </p:spPr>
        <p:txBody>
          <a:bodyPr/>
          <a:lstStyle/>
          <a:p>
            <a:endParaRPr lang="en-US"/>
          </a:p>
        </p:txBody>
      </p:sp>
      <p:sp>
        <p:nvSpPr>
          <p:cNvPr id="5" name="Text 3"/>
          <p:cNvSpPr txBox="1"/>
          <p:nvPr/>
        </p:nvSpPr>
        <p:spPr>
          <a:xfrm>
            <a:off x="640080" y="1554480"/>
            <a:ext cx="3657600" cy="365760"/>
          </a:xfrm>
          <a:prstGeom prst="rect">
            <a:avLst/>
          </a:prstGeom>
          <a:noFill/>
          <a:ln/>
        </p:spPr>
        <p:txBody>
          <a:bodyPr wrap="square" lIns="0" tIns="0" rIns="0" bIns="0" rtlCol="0" anchor="ctr"/>
          <a:lstStyle/>
          <a:p>
            <a:pPr marL="0" indent="0">
              <a:buNone/>
            </a:pPr>
            <a:r>
              <a:rPr lang="en-US" sz="1800" b="1" dirty="0">
                <a:solidFill>
                  <a:srgbClr val="0F2A33"/>
                </a:solidFill>
                <a:latin typeface="Calibri" pitchFamily="34" charset="0"/>
                <a:ea typeface="Calibri" pitchFamily="34" charset="-122"/>
                <a:cs typeface="Calibri" pitchFamily="34" charset="-120"/>
              </a:rPr>
              <a:t>What the tool gave</a:t>
            </a:r>
            <a:endParaRPr lang="en-US" sz="1800" dirty="0"/>
          </a:p>
        </p:txBody>
      </p:sp>
      <p:sp>
        <p:nvSpPr>
          <p:cNvPr id="6" name="Text 4"/>
          <p:cNvSpPr txBox="1"/>
          <p:nvPr/>
        </p:nvSpPr>
        <p:spPr>
          <a:xfrm>
            <a:off x="640080" y="1965960"/>
            <a:ext cx="3657600" cy="2606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5-step flow table</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Example conversation, figures labelled illustrative</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Refused to confirm the night shift as the cause</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Rules for missing data</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3 weaknesses</a:t>
            </a:r>
            <a:endParaRPr lang="en-US" sz="1400" dirty="0"/>
          </a:p>
        </p:txBody>
      </p:sp>
      <p:sp>
        <p:nvSpPr>
          <p:cNvPr id="7" name="Shape 5"/>
          <p:cNvSpPr/>
          <p:nvPr/>
        </p:nvSpPr>
        <p:spPr>
          <a:xfrm>
            <a:off x="4663440" y="1463040"/>
            <a:ext cx="4023360" cy="3200400"/>
          </a:xfrm>
          <a:prstGeom prst="roundRect">
            <a:avLst>
              <a:gd name="adj" fmla="val 3429"/>
            </a:avLst>
          </a:prstGeom>
          <a:solidFill>
            <a:srgbClr val="FFF1D6"/>
          </a:solidFill>
          <a:ln w="12700">
            <a:solidFill>
              <a:srgbClr val="FFF1D6"/>
            </a:solidFill>
            <a:prstDash val="solid"/>
          </a:ln>
        </p:spPr>
        <p:txBody>
          <a:bodyPr/>
          <a:lstStyle/>
          <a:p>
            <a:endParaRPr lang="en-US"/>
          </a:p>
        </p:txBody>
      </p:sp>
      <p:sp>
        <p:nvSpPr>
          <p:cNvPr id="8" name="Text 6"/>
          <p:cNvSpPr txBox="1"/>
          <p:nvPr/>
        </p:nvSpPr>
        <p:spPr>
          <a:xfrm>
            <a:off x="4846320" y="1554480"/>
            <a:ext cx="3657600" cy="365760"/>
          </a:xfrm>
          <a:prstGeom prst="rect">
            <a:avLst/>
          </a:prstGeom>
          <a:noFill/>
          <a:ln/>
        </p:spPr>
        <p:txBody>
          <a:bodyPr wrap="square" lIns="0" tIns="0" rIns="0" bIns="0" rtlCol="0" anchor="ctr"/>
          <a:lstStyle/>
          <a:p>
            <a:pPr marL="0" indent="0">
              <a:buNone/>
            </a:pPr>
            <a:r>
              <a:rPr lang="en-US" sz="1800" b="1" dirty="0">
                <a:solidFill>
                  <a:srgbClr val="0F2A33"/>
                </a:solidFill>
                <a:latin typeface="Calibri" pitchFamily="34" charset="0"/>
                <a:ea typeface="Calibri" pitchFamily="34" charset="-122"/>
                <a:cs typeface="Calibri" pitchFamily="34" charset="-120"/>
              </a:rPr>
              <a:t>What we changed and why</a:t>
            </a:r>
            <a:endParaRPr lang="en-US" sz="1800" dirty="0"/>
          </a:p>
        </p:txBody>
      </p:sp>
      <p:sp>
        <p:nvSpPr>
          <p:cNvPr id="9" name="Text 7"/>
          <p:cNvSpPr txBox="1"/>
          <p:nvPr/>
        </p:nvSpPr>
        <p:spPr>
          <a:xfrm>
            <a:off x="4846320" y="1965960"/>
            <a:ext cx="3657600" cy="2606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Added source and time range to each finding: the draft said "records suggest" without naming records</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Split findings into Observed fact, Hypothesis and Missing data: the draft mixed them in one paragraph</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marL="0" indent="0">
              <a:buNone/>
            </a:pPr>
            <a:r>
              <a:rPr lang="en-US" sz="3200" b="1" dirty="0">
                <a:solidFill>
                  <a:srgbClr val="0F2A33"/>
                </a:solidFill>
                <a:latin typeface="Cambria" pitchFamily="34" charset="0"/>
                <a:ea typeface="Cambria" pitchFamily="34" charset="-122"/>
                <a:cs typeface="Cambria" pitchFamily="34" charset="-120"/>
              </a:rPr>
              <a:t>Log 02: Concept B</a:t>
            </a:r>
            <a:endParaRPr lang="en-US" sz="3200" dirty="0"/>
          </a:p>
        </p:txBody>
      </p:sp>
      <p:sp>
        <p:nvSpPr>
          <p:cNvPr id="3" name="Text 1"/>
          <p:cNvSpPr txBox="1"/>
          <p:nvPr/>
        </p:nvSpPr>
        <p:spPr>
          <a:xfrm>
            <a:off x="457200" y="1051560"/>
            <a:ext cx="8229600" cy="320040"/>
          </a:xfrm>
          <a:prstGeom prst="rect">
            <a:avLst/>
          </a:prstGeom>
          <a:noFill/>
          <a:ln/>
        </p:spPr>
        <p:txBody>
          <a:bodyPr wrap="square" lIns="0" tIns="0" rIns="0" bIns="0" rtlCol="0" anchor="ctr"/>
          <a:lstStyle/>
          <a:p>
            <a:pPr marL="0" indent="0">
              <a:buNone/>
            </a:pPr>
            <a:r>
              <a:rPr lang="en-US" sz="1400" b="1" dirty="0">
                <a:solidFill>
                  <a:srgbClr val="1B2430"/>
                </a:solidFill>
                <a:latin typeface="Calibri" pitchFamily="34" charset="0"/>
                <a:ea typeface="Calibri" pitchFamily="34" charset="-122"/>
                <a:cs typeface="Calibri" pitchFamily="34" charset="-120"/>
              </a:rPr>
              <a:t>Tool: </a:t>
            </a:r>
            <a:r>
              <a:rPr lang="en-US" sz="1400" dirty="0">
                <a:solidFill>
                  <a:srgbClr val="1B2430"/>
                </a:solidFill>
                <a:latin typeface="Calibri" pitchFamily="34" charset="0"/>
                <a:ea typeface="Calibri" pitchFamily="34" charset="-122"/>
                <a:cs typeface="Calibri" pitchFamily="34" charset="-120"/>
              </a:rPr>
              <a:t>Google Gemini</a:t>
            </a:r>
            <a:endParaRPr lang="en-US" sz="1400" dirty="0"/>
          </a:p>
        </p:txBody>
      </p:sp>
      <p:sp>
        <p:nvSpPr>
          <p:cNvPr id="4" name="Shape 2"/>
          <p:cNvSpPr/>
          <p:nvPr/>
        </p:nvSpPr>
        <p:spPr>
          <a:xfrm>
            <a:off x="457200" y="1463040"/>
            <a:ext cx="4023360" cy="3200400"/>
          </a:xfrm>
          <a:prstGeom prst="roundRect">
            <a:avLst>
              <a:gd name="adj" fmla="val 3429"/>
            </a:avLst>
          </a:prstGeom>
          <a:solidFill>
            <a:srgbClr val="F1F5F6"/>
          </a:solidFill>
          <a:ln w="12700">
            <a:solidFill>
              <a:srgbClr val="F1F5F6"/>
            </a:solidFill>
            <a:prstDash val="solid"/>
          </a:ln>
        </p:spPr>
        <p:txBody>
          <a:bodyPr/>
          <a:lstStyle/>
          <a:p>
            <a:endParaRPr lang="en-US"/>
          </a:p>
        </p:txBody>
      </p:sp>
      <p:sp>
        <p:nvSpPr>
          <p:cNvPr id="5" name="Text 3"/>
          <p:cNvSpPr txBox="1"/>
          <p:nvPr/>
        </p:nvSpPr>
        <p:spPr>
          <a:xfrm>
            <a:off x="640080" y="1554480"/>
            <a:ext cx="3657600" cy="365760"/>
          </a:xfrm>
          <a:prstGeom prst="rect">
            <a:avLst/>
          </a:prstGeom>
          <a:noFill/>
          <a:ln/>
        </p:spPr>
        <p:txBody>
          <a:bodyPr wrap="square" lIns="0" tIns="0" rIns="0" bIns="0" rtlCol="0" anchor="ctr"/>
          <a:lstStyle/>
          <a:p>
            <a:pPr marL="0" indent="0">
              <a:buNone/>
            </a:pPr>
            <a:r>
              <a:rPr lang="en-US" sz="1800" b="1" dirty="0">
                <a:solidFill>
                  <a:srgbClr val="0F2A33"/>
                </a:solidFill>
                <a:latin typeface="Calibri" pitchFamily="34" charset="0"/>
                <a:ea typeface="Calibri" pitchFamily="34" charset="-122"/>
                <a:cs typeface="Calibri" pitchFamily="34" charset="-120"/>
              </a:rPr>
              <a:t>What the tool gave</a:t>
            </a:r>
            <a:endParaRPr lang="en-US" sz="1800" dirty="0"/>
          </a:p>
        </p:txBody>
      </p:sp>
      <p:sp>
        <p:nvSpPr>
          <p:cNvPr id="6" name="Text 4"/>
          <p:cNvSpPr txBox="1"/>
          <p:nvPr/>
        </p:nvSpPr>
        <p:spPr>
          <a:xfrm>
            <a:off x="640080" y="1965960"/>
            <a:ext cx="3657600" cy="2606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5-stage flow table</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Example with fact / hypothesis / missing labels and evidence strength</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Text flow diagram</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3 weaknesses: friction, data dependency, prompt fatigue</a:t>
            </a:r>
            <a:endParaRPr lang="en-US" sz="1400" dirty="0"/>
          </a:p>
        </p:txBody>
      </p:sp>
      <p:sp>
        <p:nvSpPr>
          <p:cNvPr id="7" name="Shape 5"/>
          <p:cNvSpPr/>
          <p:nvPr/>
        </p:nvSpPr>
        <p:spPr>
          <a:xfrm>
            <a:off x="4663440" y="1463040"/>
            <a:ext cx="4023360" cy="3200400"/>
          </a:xfrm>
          <a:prstGeom prst="roundRect">
            <a:avLst>
              <a:gd name="adj" fmla="val 3429"/>
            </a:avLst>
          </a:prstGeom>
          <a:solidFill>
            <a:srgbClr val="FFF1D6"/>
          </a:solidFill>
          <a:ln w="12700">
            <a:solidFill>
              <a:srgbClr val="FFF1D6"/>
            </a:solidFill>
            <a:prstDash val="solid"/>
          </a:ln>
        </p:spPr>
        <p:txBody>
          <a:bodyPr/>
          <a:lstStyle/>
          <a:p>
            <a:endParaRPr lang="en-US"/>
          </a:p>
        </p:txBody>
      </p:sp>
      <p:sp>
        <p:nvSpPr>
          <p:cNvPr id="8" name="Text 6"/>
          <p:cNvSpPr txBox="1"/>
          <p:nvPr/>
        </p:nvSpPr>
        <p:spPr>
          <a:xfrm>
            <a:off x="4846320" y="1554480"/>
            <a:ext cx="3657600" cy="365760"/>
          </a:xfrm>
          <a:prstGeom prst="rect">
            <a:avLst/>
          </a:prstGeom>
          <a:noFill/>
          <a:ln/>
        </p:spPr>
        <p:txBody>
          <a:bodyPr wrap="square" lIns="0" tIns="0" rIns="0" bIns="0" rtlCol="0" anchor="ctr"/>
          <a:lstStyle/>
          <a:p>
            <a:pPr marL="0" indent="0">
              <a:buNone/>
            </a:pPr>
            <a:r>
              <a:rPr lang="en-US" sz="1800" b="1" dirty="0">
                <a:solidFill>
                  <a:srgbClr val="0F2A33"/>
                </a:solidFill>
                <a:latin typeface="Calibri" pitchFamily="34" charset="0"/>
                <a:ea typeface="Calibri" pitchFamily="34" charset="-122"/>
                <a:cs typeface="Calibri" pitchFamily="34" charset="-120"/>
              </a:rPr>
              <a:t>What we changed and why</a:t>
            </a:r>
            <a:endParaRPr lang="en-US" sz="1800" dirty="0"/>
          </a:p>
        </p:txBody>
      </p:sp>
      <p:sp>
        <p:nvSpPr>
          <p:cNvPr id="9" name="Text 7"/>
          <p:cNvSpPr txBox="1"/>
          <p:nvPr/>
        </p:nvSpPr>
        <p:spPr>
          <a:xfrm>
            <a:off x="4846320" y="1965960"/>
            <a:ext cx="3657600" cy="2606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Clarify only when ambiguous: draft asked four questions first</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Cite a source only if it exists: draft invented a maintenance log</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Label every figure illustrative: draft showed an unlabelled 34% spike</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Engineer chooses the next step; "may contribute", not "caused"</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marL="0" indent="0">
              <a:buNone/>
            </a:pPr>
            <a:r>
              <a:rPr lang="en-US" sz="3200" b="1" dirty="0">
                <a:solidFill>
                  <a:srgbClr val="0F2A33"/>
                </a:solidFill>
                <a:latin typeface="Cambria" pitchFamily="34" charset="0"/>
                <a:ea typeface="Cambria" pitchFamily="34" charset="-122"/>
                <a:cs typeface="Cambria" pitchFamily="34" charset="-120"/>
              </a:rPr>
              <a:t>Appendix A: Prompt 01 (Concept A)</a:t>
            </a:r>
            <a:endParaRPr lang="en-US" sz="3200" dirty="0"/>
          </a:p>
        </p:txBody>
      </p:sp>
      <p:sp>
        <p:nvSpPr>
          <p:cNvPr id="3" name="Shape 1"/>
          <p:cNvSpPr/>
          <p:nvPr/>
        </p:nvSpPr>
        <p:spPr>
          <a:xfrm>
            <a:off x="457200" y="1234440"/>
            <a:ext cx="8229600" cy="3429000"/>
          </a:xfrm>
          <a:prstGeom prst="roundRect">
            <a:avLst>
              <a:gd name="adj" fmla="val 3200"/>
            </a:avLst>
          </a:prstGeom>
          <a:solidFill>
            <a:srgbClr val="F1F5F6"/>
          </a:solidFill>
          <a:ln w="12700">
            <a:solidFill>
              <a:srgbClr val="F1F5F6"/>
            </a:solidFill>
            <a:prstDash val="solid"/>
          </a:ln>
        </p:spPr>
        <p:txBody>
          <a:bodyPr/>
          <a:lstStyle/>
          <a:p>
            <a:endParaRPr lang="en-US"/>
          </a:p>
        </p:txBody>
      </p:sp>
      <p:sp>
        <p:nvSpPr>
          <p:cNvPr id="4" name="Text 2"/>
          <p:cNvSpPr txBox="1"/>
          <p:nvPr/>
        </p:nvSpPr>
        <p:spPr>
          <a:xfrm>
            <a:off x="640080" y="1371600"/>
            <a:ext cx="7863840" cy="3200400"/>
          </a:xfrm>
          <a:prstGeom prst="rect">
            <a:avLst/>
          </a:prstGeom>
          <a:noFill/>
          <a:ln/>
        </p:spPr>
        <p:txBody>
          <a:bodyPr wrap="square" lIns="0" tIns="0" rIns="0" bIns="0" rtlCol="0" anchor="t"/>
          <a:lstStyle/>
          <a:p>
            <a:pPr marL="0" indent="0">
              <a:spcAft>
                <a:spcPts val="400"/>
              </a:spcAft>
              <a:buNone/>
            </a:pPr>
            <a:r>
              <a:rPr lang="en-US" sz="1300" dirty="0">
                <a:solidFill>
                  <a:srgbClr val="1B2430"/>
                </a:solidFill>
                <a:latin typeface="Calibri" pitchFamily="34" charset="0"/>
                <a:ea typeface="Calibri" pitchFamily="34" charset="-122"/>
                <a:cs typeface="Calibri" pitchFamily="34" charset="-120"/>
              </a:rPr>
              <a:t>You are a conversational UX designer for industrial AI.</a:t>
            </a:r>
            <a:endParaRPr lang="en-US" sz="1300" dirty="0"/>
          </a:p>
          <a:p>
            <a:pPr marL="0" indent="0">
              <a:spcAft>
                <a:spcPts val="400"/>
              </a:spcAft>
              <a:buNone/>
            </a:pPr>
            <a:r>
              <a:rPr lang="en-US" sz="1300" dirty="0">
                <a:solidFill>
                  <a:srgbClr val="1B2430"/>
                </a:solidFill>
                <a:latin typeface="Calibri" pitchFamily="34" charset="0"/>
                <a:ea typeface="Calibri" pitchFamily="34" charset="-122"/>
                <a:cs typeface="Calibri" pitchFamily="34" charset="-120"/>
              </a:rPr>
              <a:t>Context: a university team is designing a chatbot for a fan-manufacturing factory. The main user is a quality-control engineer. Available data: inspection sheets (8 parameters x 21 sample readings per shift, up to 3 shifts per day), defect logs, and shift records.</a:t>
            </a:r>
            <a:endParaRPr lang="en-US" sz="1300" dirty="0"/>
          </a:p>
          <a:p>
            <a:pPr marL="0" indent="0">
              <a:spcAft>
                <a:spcPts val="400"/>
              </a:spcAft>
              <a:buNone/>
            </a:pPr>
            <a:r>
              <a:rPr lang="en-US" sz="1300" dirty="0">
                <a:solidFill>
                  <a:srgbClr val="1B2430"/>
                </a:solidFill>
                <a:latin typeface="Calibri" pitchFamily="34" charset="0"/>
                <a:ea typeface="Calibri" pitchFamily="34" charset="-122"/>
                <a:cs typeface="Calibri" pitchFamily="34" charset="-120"/>
              </a:rPr>
              <a:t>Design Concept A, "Ask &amp; Analyze": the user asks one question and the chatbot answers directly with analysis.</a:t>
            </a:r>
            <a:endParaRPr lang="en-US" sz="1300" dirty="0"/>
          </a:p>
          <a:p>
            <a:pPr marL="0" indent="0">
              <a:spcAft>
                <a:spcPts val="400"/>
              </a:spcAft>
              <a:buNone/>
            </a:pPr>
            <a:r>
              <a:rPr lang="en-US" sz="1300" dirty="0">
                <a:solidFill>
                  <a:srgbClr val="1B2430"/>
                </a:solidFill>
                <a:latin typeface="Calibri" pitchFamily="34" charset="0"/>
                <a:ea typeface="Calibri" pitchFamily="34" charset="-122"/>
                <a:cs typeface="Calibri" pitchFamily="34" charset="-120"/>
              </a:rPr>
              <a:t>Output: 1) A 5-step flow as a table (step, user action, system action). 2) One example conversation for "Why did the paint defect rate increase this week?" Use clearly fake numbers labelled "illustrative". 3) What the bot does when data is missing. 4) Three weaknesses of this approach.</a:t>
            </a:r>
            <a:endParaRPr lang="en-US" sz="1300" dirty="0"/>
          </a:p>
          <a:p>
            <a:pPr marL="0" indent="0">
              <a:spcAft>
                <a:spcPts val="400"/>
              </a:spcAft>
              <a:buNone/>
            </a:pPr>
            <a:r>
              <a:rPr lang="en-US" sz="1300" dirty="0">
                <a:solidFill>
                  <a:srgbClr val="1B2430"/>
                </a:solidFill>
                <a:latin typeface="Calibri" pitchFamily="34" charset="0"/>
                <a:ea typeface="Calibri" pitchFamily="34" charset="-122"/>
                <a:cs typeface="Calibri" pitchFamily="34" charset="-120"/>
              </a:rPr>
              <a:t>Constraints: never present invented numbers as real; maximum 400 words.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marL="0" indent="0">
              <a:buNone/>
            </a:pPr>
            <a:r>
              <a:rPr lang="en-US" sz="3200" b="1" dirty="0">
                <a:solidFill>
                  <a:srgbClr val="0F2A33"/>
                </a:solidFill>
                <a:latin typeface="Cambria" pitchFamily="34" charset="0"/>
                <a:ea typeface="Cambria" pitchFamily="34" charset="-122"/>
                <a:cs typeface="Cambria" pitchFamily="34" charset="-120"/>
              </a:rPr>
              <a:t>Appendix A: Prompt 02 (Concept B)</a:t>
            </a:r>
            <a:endParaRPr lang="en-US" sz="3200" dirty="0"/>
          </a:p>
        </p:txBody>
      </p:sp>
      <p:sp>
        <p:nvSpPr>
          <p:cNvPr id="3" name="Shape 1"/>
          <p:cNvSpPr/>
          <p:nvPr/>
        </p:nvSpPr>
        <p:spPr>
          <a:xfrm>
            <a:off x="457200" y="1234440"/>
            <a:ext cx="8229600" cy="3429000"/>
          </a:xfrm>
          <a:prstGeom prst="roundRect">
            <a:avLst>
              <a:gd name="adj" fmla="val 3200"/>
            </a:avLst>
          </a:prstGeom>
          <a:solidFill>
            <a:srgbClr val="F1F5F6"/>
          </a:solidFill>
          <a:ln w="12700">
            <a:solidFill>
              <a:srgbClr val="F1F5F6"/>
            </a:solidFill>
            <a:prstDash val="solid"/>
          </a:ln>
        </p:spPr>
        <p:txBody>
          <a:bodyPr/>
          <a:lstStyle/>
          <a:p>
            <a:endParaRPr lang="en-US"/>
          </a:p>
        </p:txBody>
      </p:sp>
      <p:sp>
        <p:nvSpPr>
          <p:cNvPr id="4" name="Text 2"/>
          <p:cNvSpPr txBox="1"/>
          <p:nvPr/>
        </p:nvSpPr>
        <p:spPr>
          <a:xfrm>
            <a:off x="640080" y="1371600"/>
            <a:ext cx="7863840" cy="3200400"/>
          </a:xfrm>
          <a:prstGeom prst="rect">
            <a:avLst/>
          </a:prstGeom>
          <a:noFill/>
          <a:ln/>
        </p:spPr>
        <p:txBody>
          <a:bodyPr wrap="square" lIns="0" tIns="0" rIns="0" bIns="0" rtlCol="0" anchor="t"/>
          <a:lstStyle/>
          <a:p>
            <a:pPr marL="0" indent="0">
              <a:spcAft>
                <a:spcPts val="400"/>
              </a:spcAft>
              <a:buNone/>
            </a:pPr>
            <a:r>
              <a:rPr lang="en-US" sz="1300" dirty="0">
                <a:solidFill>
                  <a:srgbClr val="1B2430"/>
                </a:solidFill>
                <a:latin typeface="Calibri" pitchFamily="34" charset="0"/>
                <a:ea typeface="Calibri" pitchFamily="34" charset="-122"/>
                <a:cs typeface="Calibri" pitchFamily="34" charset="-120"/>
              </a:rPr>
              <a:t>You are a conversational UX designer for industrial AI.</a:t>
            </a:r>
            <a:endParaRPr lang="en-US" sz="1300" dirty="0"/>
          </a:p>
          <a:p>
            <a:pPr marL="0" indent="0">
              <a:spcAft>
                <a:spcPts val="400"/>
              </a:spcAft>
              <a:buNone/>
            </a:pPr>
            <a:r>
              <a:rPr lang="en-US" sz="1300" dirty="0">
                <a:solidFill>
                  <a:srgbClr val="1B2430"/>
                </a:solidFill>
                <a:latin typeface="Calibri" pitchFamily="34" charset="0"/>
                <a:ea typeface="Calibri" pitchFamily="34" charset="-122"/>
                <a:cs typeface="Calibri" pitchFamily="34" charset="-120"/>
              </a:rPr>
              <a:t>Context: same as above (fan-manufacturing factory, quality-control engineer, inspection sheets, defect logs, shift records).</a:t>
            </a:r>
            <a:endParaRPr lang="en-US" sz="1300" dirty="0"/>
          </a:p>
          <a:p>
            <a:pPr marL="0" indent="0">
              <a:spcAft>
                <a:spcPts val="400"/>
              </a:spcAft>
              <a:buNone/>
            </a:pPr>
            <a:r>
              <a:rPr lang="en-US" sz="1300" dirty="0">
                <a:solidFill>
                  <a:srgbClr val="1B2430"/>
                </a:solidFill>
                <a:latin typeface="Calibri" pitchFamily="34" charset="0"/>
                <a:ea typeface="Calibri" pitchFamily="34" charset="-122"/>
                <a:cs typeface="Calibri" pitchFamily="34" charset="-120"/>
              </a:rPr>
              <a:t>Design Concept B, "Guided Investigation": the chatbot leads the engineer through a structured investigation instead of giving one quick answer.</a:t>
            </a:r>
            <a:endParaRPr lang="en-US" sz="1300" dirty="0"/>
          </a:p>
          <a:p>
            <a:pPr marL="0" indent="0">
              <a:spcAft>
                <a:spcPts val="400"/>
              </a:spcAft>
              <a:buNone/>
            </a:pPr>
            <a:r>
              <a:rPr lang="en-US" sz="1300" dirty="0">
                <a:solidFill>
                  <a:srgbClr val="1B2430"/>
                </a:solidFill>
                <a:latin typeface="Calibri" pitchFamily="34" charset="0"/>
                <a:ea typeface="Calibri" pitchFamily="34" charset="-122"/>
                <a:cs typeface="Calibri" pitchFamily="34" charset="-120"/>
              </a:rPr>
              <a:t>Output: 1) A 5-stage flow as a table: problem description, clarification, checking records, hypotheses with evidence, next verification step. 2) One example conversation for "Help me investigate the increase in paint defects". Label every finding as Observed fact, Hypothesis, or Missing data, and rate evidence strength (weak/moderate/strong). Use fake numbers labelled "illustrative". 3) A compact text flow diagram. 4) Three weaknesses of this approach.</a:t>
            </a:r>
            <a:endParaRPr lang="en-US" sz="1300" dirty="0"/>
          </a:p>
          <a:p>
            <a:pPr marL="0" indent="0">
              <a:spcAft>
                <a:spcPts val="400"/>
              </a:spcAft>
              <a:buNone/>
            </a:pPr>
            <a:r>
              <a:rPr lang="en-US" sz="1300" dirty="0">
                <a:solidFill>
                  <a:srgbClr val="1B2430"/>
                </a:solidFill>
                <a:latin typeface="Calibri" pitchFamily="34" charset="0"/>
                <a:ea typeface="Calibri" pitchFamily="34" charset="-122"/>
                <a:cs typeface="Calibri" pitchFamily="34" charset="-120"/>
              </a:rPr>
              <a:t>Constraints: do not assume correlation proves causation; every finding shows source and time range; maximum 450 words.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837028" y="1371599"/>
            <a:ext cx="8229600" cy="2549769"/>
          </a:xfrm>
          <a:prstGeom prst="rect">
            <a:avLst/>
          </a:prstGeom>
          <a:noFill/>
          <a:ln/>
        </p:spPr>
        <p:txBody>
          <a:bodyPr wrap="square" lIns="0" tIns="0" rIns="0" bIns="0" rtlCol="0" anchor="ctr"/>
          <a:lstStyle/>
          <a:p>
            <a:pPr marL="0" indent="0">
              <a:buNone/>
            </a:pPr>
            <a:r>
              <a:rPr lang="en-US" sz="9600" b="1" dirty="0">
                <a:solidFill>
                  <a:srgbClr val="0B6E6E"/>
                </a:solidFill>
                <a:effectLst>
                  <a:outerShdw blurRad="38100" dist="38100" dir="2700000" algn="tl">
                    <a:srgbClr val="000000">
                      <a:alpha val="43137"/>
                    </a:srgbClr>
                  </a:outerShdw>
                </a:effectLst>
                <a:latin typeface="Cambria" pitchFamily="34" charset="0"/>
                <a:ea typeface="Cambria" pitchFamily="34" charset="-122"/>
                <a:cs typeface="Cambria" pitchFamily="34" charset="-120"/>
              </a:rPr>
              <a:t>Live </a:t>
            </a:r>
          </a:p>
          <a:p>
            <a:pPr marL="0" indent="0">
              <a:buNone/>
            </a:pPr>
            <a:r>
              <a:rPr lang="en-US" sz="9600" b="1" dirty="0">
                <a:solidFill>
                  <a:srgbClr val="0B6E6E"/>
                </a:solidFill>
                <a:effectLst>
                  <a:outerShdw blurRad="38100" dist="38100" dir="2700000" algn="tl">
                    <a:srgbClr val="000000">
                      <a:alpha val="43137"/>
                    </a:srgbClr>
                  </a:outerShdw>
                </a:effectLst>
                <a:latin typeface="Cambria" pitchFamily="34" charset="0"/>
                <a:ea typeface="Cambria" pitchFamily="34" charset="-122"/>
                <a:cs typeface="Cambria" pitchFamily="34" charset="-120"/>
              </a:rPr>
              <a:t>demo</a:t>
            </a:r>
            <a:endParaRPr lang="en-US" sz="9600" dirty="0">
              <a:solidFill>
                <a:srgbClr val="0B6E6E"/>
              </a:solidFill>
              <a:effectLst>
                <a:outerShdw blurRad="38100" dist="38100" dir="2700000" algn="tl">
                  <a:srgbClr val="000000">
                    <a:alpha val="43137"/>
                  </a:srgbClr>
                </a:outerShdw>
              </a:effectLst>
            </a:endParaRPr>
          </a:p>
        </p:txBody>
      </p:sp>
      <p:sp>
        <p:nvSpPr>
          <p:cNvPr id="18" name="Shape 16"/>
          <p:cNvSpPr/>
          <p:nvPr/>
        </p:nvSpPr>
        <p:spPr>
          <a:xfrm>
            <a:off x="5577840" y="1280160"/>
            <a:ext cx="3108960" cy="3200400"/>
          </a:xfrm>
          <a:prstGeom prst="roundRect">
            <a:avLst>
              <a:gd name="adj" fmla="val 3529"/>
            </a:avLst>
          </a:prstGeom>
          <a:solidFill>
            <a:srgbClr val="F1F5F6"/>
          </a:solidFill>
          <a:ln w="12700">
            <a:solidFill>
              <a:srgbClr val="F1F5F6"/>
            </a:solidFill>
            <a:prstDash val="solid"/>
          </a:ln>
        </p:spPr>
        <p:txBody>
          <a:bodyPr/>
          <a:lstStyle/>
          <a:p>
            <a:endParaRPr lang="en-US"/>
          </a:p>
        </p:txBody>
      </p:sp>
      <p:sp>
        <p:nvSpPr>
          <p:cNvPr id="19" name="Text 17"/>
          <p:cNvSpPr txBox="1"/>
          <p:nvPr/>
        </p:nvSpPr>
        <p:spPr>
          <a:xfrm>
            <a:off x="5760720" y="1417320"/>
            <a:ext cx="2743200" cy="365760"/>
          </a:xfrm>
          <a:prstGeom prst="rect">
            <a:avLst/>
          </a:prstGeom>
          <a:noFill/>
          <a:ln/>
        </p:spPr>
        <p:txBody>
          <a:bodyPr wrap="square" lIns="0" tIns="0" rIns="0" bIns="0" rtlCol="0" anchor="ctr"/>
          <a:lstStyle/>
          <a:p>
            <a:pPr marL="0" indent="0">
              <a:buNone/>
            </a:pPr>
            <a:r>
              <a:rPr lang="en-US" sz="2000" b="1" dirty="0">
                <a:solidFill>
                  <a:srgbClr val="0F2A33"/>
                </a:solidFill>
                <a:latin typeface="Calibri" pitchFamily="34" charset="0"/>
                <a:ea typeface="Calibri" pitchFamily="34" charset="-122"/>
                <a:cs typeface="Calibri" pitchFamily="34" charset="-120"/>
              </a:rPr>
              <a:t>Note</a:t>
            </a:r>
            <a:endParaRPr lang="en-US" sz="2000" dirty="0"/>
          </a:p>
        </p:txBody>
      </p:sp>
      <p:sp>
        <p:nvSpPr>
          <p:cNvPr id="20" name="Text 18"/>
          <p:cNvSpPr txBox="1"/>
          <p:nvPr/>
        </p:nvSpPr>
        <p:spPr>
          <a:xfrm>
            <a:off x="5760720" y="1874520"/>
            <a:ext cx="2743200" cy="2468880"/>
          </a:xfrm>
          <a:prstGeom prst="rect">
            <a:avLst/>
          </a:prstGeom>
          <a:noFill/>
          <a:ln/>
        </p:spPr>
        <p:txBody>
          <a:bodyPr wrap="square" lIns="0" tIns="0" rIns="0" bIns="0" rtlCol="0" anchor="t"/>
          <a:lstStyle/>
          <a:p>
            <a:pPr marL="0" indent="0">
              <a:buNone/>
            </a:pPr>
            <a:r>
              <a:rPr lang="en-US" sz="1600" dirty="0">
                <a:solidFill>
                  <a:srgbClr val="1B2430"/>
                </a:solidFill>
                <a:latin typeface="Calibri" pitchFamily="34" charset="0"/>
                <a:ea typeface="Calibri" pitchFamily="34" charset="-122"/>
                <a:cs typeface="Calibri" pitchFamily="34" charset="-120"/>
              </a:rPr>
              <a:t>All numbers are illustrative. The prototype is not connected to any real factory database.</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2A33"/>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Why it is unique</a:t>
            </a:r>
            <a:endParaRPr lang="en-US" sz="3200" dirty="0"/>
          </a:p>
        </p:txBody>
      </p:sp>
      <p:sp>
        <p:nvSpPr>
          <p:cNvPr id="3" name="Shape 1"/>
          <p:cNvSpPr/>
          <p:nvPr/>
        </p:nvSpPr>
        <p:spPr>
          <a:xfrm>
            <a:off x="457200" y="1371600"/>
            <a:ext cx="548640" cy="548640"/>
          </a:xfrm>
          <a:prstGeom prst="ellipse">
            <a:avLst/>
          </a:prstGeom>
          <a:solidFill>
            <a:srgbClr val="F2A33A"/>
          </a:solidFill>
          <a:ln w="12700">
            <a:solidFill>
              <a:srgbClr val="F2A33A"/>
            </a:solidFill>
            <a:prstDash val="solid"/>
          </a:ln>
        </p:spPr>
        <p:txBody>
          <a:bodyPr/>
          <a:lstStyle/>
          <a:p>
            <a:endParaRPr lang="en-US"/>
          </a:p>
        </p:txBody>
      </p:sp>
      <p:sp>
        <p:nvSpPr>
          <p:cNvPr id="4" name="Text 2"/>
          <p:cNvSpPr txBox="1"/>
          <p:nvPr/>
        </p:nvSpPr>
        <p:spPr>
          <a:xfrm>
            <a:off x="457200" y="1371600"/>
            <a:ext cx="548640" cy="548640"/>
          </a:xfrm>
          <a:prstGeom prst="rect">
            <a:avLst/>
          </a:prstGeom>
          <a:noFill/>
          <a:ln/>
        </p:spPr>
        <p:txBody>
          <a:bodyPr wrap="square" lIns="0" tIns="0" rIns="0" bIns="0" rtlCol="0" anchor="ctr"/>
          <a:lstStyle/>
          <a:p>
            <a:pPr marL="0" indent="0" algn="ctr">
              <a:buNone/>
            </a:pPr>
            <a:r>
              <a:rPr lang="en-US" sz="1800" b="1" dirty="0">
                <a:solidFill>
                  <a:srgbClr val="0F2A33"/>
                </a:solidFill>
                <a:latin typeface="Calibri" pitchFamily="34" charset="0"/>
                <a:ea typeface="Calibri" pitchFamily="34" charset="-122"/>
                <a:cs typeface="Calibri" pitchFamily="34" charset="-120"/>
              </a:rPr>
              <a:t>1</a:t>
            </a:r>
            <a:endParaRPr lang="en-US" sz="1800" dirty="0"/>
          </a:p>
        </p:txBody>
      </p:sp>
      <p:sp>
        <p:nvSpPr>
          <p:cNvPr id="5" name="Text 3"/>
          <p:cNvSpPr txBox="1"/>
          <p:nvPr/>
        </p:nvSpPr>
        <p:spPr>
          <a:xfrm>
            <a:off x="1280160" y="1280160"/>
            <a:ext cx="7315200" cy="731520"/>
          </a:xfrm>
          <a:prstGeom prst="rect">
            <a:avLst/>
          </a:prstGeom>
          <a:noFill/>
          <a:ln/>
        </p:spPr>
        <p:txBody>
          <a:bodyPr wrap="square" lIns="0" tIns="0" rIns="0" bIns="0" rtlCol="0" anchor="ctr"/>
          <a:lstStyle/>
          <a:p>
            <a:pPr marL="0" indent="0">
              <a:buNone/>
            </a:pPr>
            <a:r>
              <a:rPr lang="en-US" sz="2000" dirty="0">
                <a:solidFill>
                  <a:srgbClr val="FFFFFF"/>
                </a:solidFill>
                <a:latin typeface="Calibri" pitchFamily="34" charset="0"/>
                <a:ea typeface="Calibri" pitchFamily="34" charset="-122"/>
                <a:cs typeface="Calibri" pitchFamily="34" charset="-120"/>
              </a:rPr>
              <a:t>Specific user: quality-control engineers</a:t>
            </a:r>
            <a:endParaRPr lang="en-US" sz="2000" dirty="0"/>
          </a:p>
        </p:txBody>
      </p:sp>
      <p:sp>
        <p:nvSpPr>
          <p:cNvPr id="6" name="Shape 4"/>
          <p:cNvSpPr/>
          <p:nvPr/>
        </p:nvSpPr>
        <p:spPr>
          <a:xfrm>
            <a:off x="457200" y="2286000"/>
            <a:ext cx="548640" cy="548640"/>
          </a:xfrm>
          <a:prstGeom prst="ellipse">
            <a:avLst/>
          </a:prstGeom>
          <a:solidFill>
            <a:srgbClr val="F2A33A"/>
          </a:solidFill>
          <a:ln w="12700">
            <a:solidFill>
              <a:srgbClr val="F2A33A"/>
            </a:solidFill>
            <a:prstDash val="solid"/>
          </a:ln>
        </p:spPr>
        <p:txBody>
          <a:bodyPr/>
          <a:lstStyle/>
          <a:p>
            <a:endParaRPr lang="en-US"/>
          </a:p>
        </p:txBody>
      </p:sp>
      <p:sp>
        <p:nvSpPr>
          <p:cNvPr id="7" name="Text 5"/>
          <p:cNvSpPr txBox="1"/>
          <p:nvPr/>
        </p:nvSpPr>
        <p:spPr>
          <a:xfrm>
            <a:off x="457200" y="2286000"/>
            <a:ext cx="548640" cy="548640"/>
          </a:xfrm>
          <a:prstGeom prst="rect">
            <a:avLst/>
          </a:prstGeom>
          <a:noFill/>
          <a:ln/>
        </p:spPr>
        <p:txBody>
          <a:bodyPr wrap="square" lIns="0" tIns="0" rIns="0" bIns="0" rtlCol="0" anchor="ctr"/>
          <a:lstStyle/>
          <a:p>
            <a:pPr marL="0" indent="0" algn="ctr">
              <a:buNone/>
            </a:pPr>
            <a:r>
              <a:rPr lang="en-US" sz="1800" b="1" dirty="0">
                <a:solidFill>
                  <a:srgbClr val="0F2A33"/>
                </a:solidFill>
                <a:latin typeface="Calibri" pitchFamily="34" charset="0"/>
                <a:ea typeface="Calibri" pitchFamily="34" charset="-122"/>
                <a:cs typeface="Calibri" pitchFamily="34" charset="-120"/>
              </a:rPr>
              <a:t>2</a:t>
            </a:r>
            <a:endParaRPr lang="en-US" sz="1800" dirty="0"/>
          </a:p>
        </p:txBody>
      </p:sp>
      <p:sp>
        <p:nvSpPr>
          <p:cNvPr id="8" name="Text 6"/>
          <p:cNvSpPr txBox="1"/>
          <p:nvPr/>
        </p:nvSpPr>
        <p:spPr>
          <a:xfrm>
            <a:off x="1280160" y="2194560"/>
            <a:ext cx="7315200" cy="731520"/>
          </a:xfrm>
          <a:prstGeom prst="rect">
            <a:avLst/>
          </a:prstGeom>
          <a:noFill/>
          <a:ln/>
        </p:spPr>
        <p:txBody>
          <a:bodyPr wrap="square" lIns="0" tIns="0" rIns="0" bIns="0" rtlCol="0" anchor="ctr"/>
          <a:lstStyle/>
          <a:p>
            <a:pPr marL="0" indent="0">
              <a:buNone/>
            </a:pPr>
            <a:r>
              <a:rPr lang="en-US" sz="2000" dirty="0">
                <a:solidFill>
                  <a:srgbClr val="FFFFFF"/>
                </a:solidFill>
                <a:latin typeface="Calibri" pitchFamily="34" charset="0"/>
                <a:ea typeface="Calibri" pitchFamily="34" charset="-122"/>
                <a:cs typeface="Calibri" pitchFamily="34" charset="-120"/>
              </a:rPr>
              <a:t>Specific idea: guided investigation with evidence and uncertainty</a:t>
            </a:r>
            <a:endParaRPr lang="en-US" sz="2000" dirty="0"/>
          </a:p>
        </p:txBody>
      </p:sp>
      <p:sp>
        <p:nvSpPr>
          <p:cNvPr id="9" name="Shape 7"/>
          <p:cNvSpPr/>
          <p:nvPr/>
        </p:nvSpPr>
        <p:spPr>
          <a:xfrm>
            <a:off x="457200" y="3200400"/>
            <a:ext cx="548640" cy="548640"/>
          </a:xfrm>
          <a:prstGeom prst="ellipse">
            <a:avLst/>
          </a:prstGeom>
          <a:solidFill>
            <a:srgbClr val="F2A33A"/>
          </a:solidFill>
          <a:ln w="12700">
            <a:solidFill>
              <a:srgbClr val="F2A33A"/>
            </a:solidFill>
            <a:prstDash val="solid"/>
          </a:ln>
        </p:spPr>
        <p:txBody>
          <a:bodyPr/>
          <a:lstStyle/>
          <a:p>
            <a:endParaRPr lang="en-US"/>
          </a:p>
        </p:txBody>
      </p:sp>
      <p:sp>
        <p:nvSpPr>
          <p:cNvPr id="10" name="Text 8"/>
          <p:cNvSpPr txBox="1"/>
          <p:nvPr/>
        </p:nvSpPr>
        <p:spPr>
          <a:xfrm>
            <a:off x="457200" y="3200400"/>
            <a:ext cx="548640" cy="548640"/>
          </a:xfrm>
          <a:prstGeom prst="rect">
            <a:avLst/>
          </a:prstGeom>
          <a:noFill/>
          <a:ln/>
        </p:spPr>
        <p:txBody>
          <a:bodyPr wrap="square" lIns="0" tIns="0" rIns="0" bIns="0" rtlCol="0" anchor="ctr"/>
          <a:lstStyle/>
          <a:p>
            <a:pPr marL="0" indent="0" algn="ctr">
              <a:buNone/>
            </a:pPr>
            <a:r>
              <a:rPr lang="en-US" sz="1800" b="1" dirty="0">
                <a:solidFill>
                  <a:srgbClr val="0F2A33"/>
                </a:solidFill>
                <a:latin typeface="Calibri" pitchFamily="34" charset="0"/>
                <a:ea typeface="Calibri" pitchFamily="34" charset="-122"/>
                <a:cs typeface="Calibri" pitchFamily="34" charset="-120"/>
              </a:rPr>
              <a:t>3</a:t>
            </a:r>
            <a:endParaRPr lang="en-US" sz="1800" dirty="0"/>
          </a:p>
        </p:txBody>
      </p:sp>
      <p:sp>
        <p:nvSpPr>
          <p:cNvPr id="11" name="Text 9"/>
          <p:cNvSpPr txBox="1"/>
          <p:nvPr/>
        </p:nvSpPr>
        <p:spPr>
          <a:xfrm>
            <a:off x="1280160" y="3108960"/>
            <a:ext cx="7315200" cy="731520"/>
          </a:xfrm>
          <a:prstGeom prst="rect">
            <a:avLst/>
          </a:prstGeom>
          <a:noFill/>
          <a:ln/>
        </p:spPr>
        <p:txBody>
          <a:bodyPr wrap="square" lIns="0" tIns="0" rIns="0" bIns="0" rtlCol="0" anchor="ctr"/>
          <a:lstStyle/>
          <a:p>
            <a:pPr marL="0" indent="0">
              <a:buNone/>
            </a:pPr>
            <a:r>
              <a:rPr lang="en-US" sz="2000" dirty="0">
                <a:solidFill>
                  <a:srgbClr val="FFFFFF"/>
                </a:solidFill>
                <a:latin typeface="Calibri" pitchFamily="34" charset="0"/>
                <a:ea typeface="Calibri" pitchFamily="34" charset="-122"/>
                <a:cs typeface="Calibri" pitchFamily="34" charset="-120"/>
              </a:rPr>
              <a:t>Honest scope: illustrative data now, authorized factory records later</a:t>
            </a:r>
            <a:endParaRPr lang="en-US" sz="2000" dirty="0"/>
          </a:p>
        </p:txBody>
      </p:sp>
      <p:sp>
        <p:nvSpPr>
          <p:cNvPr id="12" name="Text 10"/>
          <p:cNvSpPr txBox="1"/>
          <p:nvPr/>
        </p:nvSpPr>
        <p:spPr>
          <a:xfrm>
            <a:off x="457200" y="4114800"/>
            <a:ext cx="8229600" cy="548640"/>
          </a:xfrm>
          <a:prstGeom prst="rect">
            <a:avLst/>
          </a:prstGeom>
          <a:noFill/>
          <a:ln/>
        </p:spPr>
        <p:txBody>
          <a:bodyPr wrap="square" lIns="0" tIns="0" rIns="0" bIns="0" rtlCol="0" anchor="ctr"/>
          <a:lstStyle/>
          <a:p>
            <a:pPr marL="0" indent="0">
              <a:buNone/>
            </a:pPr>
            <a:r>
              <a:rPr lang="en-US" sz="2800" b="1" dirty="0">
                <a:solidFill>
                  <a:srgbClr val="F2A33A"/>
                </a:solidFill>
                <a:latin typeface="Cambria" pitchFamily="34" charset="0"/>
                <a:ea typeface="Cambria" pitchFamily="34" charset="-122"/>
                <a:cs typeface="Cambria" pitchFamily="34" charset="-120"/>
              </a:rPr>
              <a:t>Questions?</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948</Words>
  <Application>Microsoft Office PowerPoint</Application>
  <PresentationFormat>On-screen Show (16:9)</PresentationFormat>
  <Paragraphs>144</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FactoryLens AI - Milestone 1</dc:title>
  <dc:subject>PptxGenJS Presentation</dc:subject>
  <dc:creator>PptxGenJS</dc:creator>
  <cp:lastModifiedBy>youssef emad samouel</cp:lastModifiedBy>
  <cp:revision>3</cp:revision>
  <dcterms:created xsi:type="dcterms:W3CDTF">2026-10-12T20:44:36Z</dcterms:created>
  <dcterms:modified xsi:type="dcterms:W3CDTF">2026-10-12T20:48:57Z</dcterms:modified>
</cp:coreProperties>
</file>